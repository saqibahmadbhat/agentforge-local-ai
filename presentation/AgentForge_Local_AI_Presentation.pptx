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279945a-a36f-5e3c-9553-946b4cbd7ea8}">
          <p14:sldIdLst>
            <p14:sldId id="256"/>
            <p14:sldId id="257"/>
            <p14:sldId id="258"/>
          </p14:sldIdLst>
        </p14:section>
        <p14:section name="Design" id="{508fa53a-78fb-9a1e-eae9-842213bd9574}">
          <p14:sldIdLst>
            <p14:sldId id="259"/>
            <p14:sldId id="260"/>
            <p14:sldId id="261"/>
            <p14:sldId id="262"/>
          </p14:sldIdLst>
        </p14:section>
        <p14:section name="Results" id="{bf6f107d-2ffc-575c-6041-5dba6defd803}">
          <p14:sldIdLst>
            <p14:sldId id="263"/>
            <p14:sldId id="264"/>
            <p14:sldId id="265"/>
          </p14:sldIdLst>
        </p14:section>
        <p14:section name="Conclusion" id="{89a8d886-2cb3-720a-2eb5-fb9897b2ed92}">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6E9F0"/>
                </a:solidFill>
                <a:latin typeface="+mn-lt"/>
              </a:defRPr>
            </a:pPr>
            <a:r>
              <a:rPr sz="1400" b="0" i="0" u="none" strike="noStrike">
                <a:solidFill>
                  <a:srgbClr val="E6E9F0"/>
                </a:solidFill>
                <a:latin typeface="+mn-lt"/>
              </a:rPr>
              <a:t>Automated tests per area (222 total incl. 3 optional live tests)</a:t>
            </a:r>
          </a:p>
        </c:rich>
      </c:tx>
      <c:layout/>
      <c:overlay val="0"/>
    </c:title>
    <c:autoTitleDeleted val="0"/>
    <c:plotArea>
      <c:layout/>
      <c:barChart>
        <c:barDir val="bar"/>
        <c:grouping val="clustered"/>
        <c:varyColors val="0"/>
        <c:ser>
          <c:idx val="0"/>
          <c:order val="0"/>
          <c:tx>
            <c:strRef>
              <c:f>Sheet1!$B$1</c:f>
              <c:strCache>
                <c:ptCount val="1"/>
                <c:pt idx="0">
                  <c:v>Automated tests</c:v>
                </c:pt>
              </c:strCache>
            </c:strRef>
          </c:tx>
          <c:spPr>
            <a:solidFill>
              <a:srgbClr val="4F8CFF"/>
            </a:solidFill>
            <a:effectLst/>
          </c:spPr>
          <c:invertIfNegative val="0"/>
          <c:dLbls>
            <c:numFmt formatCode="#,##0" sourceLinked="0"/>
            <c:txPr>
              <a:bodyPr/>
              <a:lstStyle/>
              <a:p>
                <a:pPr>
                  <a:defRPr b="0" i="0" strike="noStrike" sz="1100" u="none">
                    <a:solidFill>
                      <a:srgbClr val="E6E9F0"/>
                    </a:solidFill>
                    <a:latin typeface="+mn-lt"/>
                  </a:defRPr>
                </a:pPr>
              </a:p>
            </c:txPr>
            <c:showLegendKey val="0"/>
            <c:showVal val="1"/>
            <c:showCatName val="0"/>
            <c:showSerName val="0"/>
            <c:showPercent val="0"/>
            <c:showBubbleSize val="0"/>
            <c:showLeaderLines val="0"/>
          </c:dLbls>
          <c:cat>
            <c:multiLvlStrRef>
              <c:f>Sheet1!$A$2:$A$11</c:f>
              <c:multiLvlStrCache>
                <c:ptCount val="10"/>
                <c:lvl>
                  <c:pt idx="0">
                    <c:v>Calculator</c:v>
                  </c:pt>
                  <c:pt idx="1">
                    <c:v>Configuration</c:v>
                  </c:pt>
                  <c:pt idx="2">
                    <c:v>Notes</c:v>
                  </c:pt>
                  <c:pt idx="3">
                    <c:v>Tool registry</c:v>
                  </c:pt>
                  <c:pt idx="4">
                    <c:v>LLM backend</c:v>
                  </c:pt>
                  <c:pt idx="5">
                    <c:v>Web API</c:v>
                  </c:pt>
                  <c:pt idx="6">
                    <c:v>Agent loop</c:v>
                  </c:pt>
                  <c:pt idx="7">
                    <c:v>CLI</c:v>
                  </c:pt>
                  <c:pt idx="8">
                    <c:v>Offline checks</c:v>
                  </c:pt>
                  <c:pt idx="9">
                    <c:v>Browser UI</c:v>
                  </c:pt>
                </c:lvl>
              </c:multiLvlStrCache>
            </c:multiLvlStrRef>
          </c:cat>
          <c:val>
            <c:numRef>
              <c:f>Sheet1!$B$2:$B$11</c:f>
              <c:numCache>
                <c:formatCode>General</c:formatCode>
                <c:ptCount val="10"/>
                <c:pt idx="0">
                  <c:v>41</c:v>
                </c:pt>
                <c:pt idx="1">
                  <c:v>34</c:v>
                </c:pt>
                <c:pt idx="2">
                  <c:v>29</c:v>
                </c:pt>
                <c:pt idx="3">
                  <c:v>28</c:v>
                </c:pt>
                <c:pt idx="4">
                  <c:v>22</c:v>
                </c:pt>
                <c:pt idx="5">
                  <c:v>22</c:v>
                </c:pt>
                <c:pt idx="6">
                  <c:v>21</c:v>
                </c:pt>
                <c:pt idx="7">
                  <c:v>11</c:v>
                </c:pt>
                <c:pt idx="8">
                  <c:v>6</c:v>
                </c:pt>
                <c:pt idx="9">
                  <c:v>5</c:v>
                </c:pt>
              </c:numCache>
            </c:numRef>
          </c:val>
        </c:ser>
        <c:dLbls>
          <c:numFmt formatCode="#,##0" sourceLinked="0"/>
          <c:txPr>
            <a:bodyPr/>
            <a:lstStyle/>
            <a:p>
              <a:pPr>
                <a:defRPr b="0" i="0" strike="noStrike" sz="1100" u="none">
                  <a:solidFill>
                    <a:srgbClr val="E6E9F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8A2B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1141B"/>
        </a:solidFill>
        <a:ln>
          <a:noFill/>
        </a:ln>
        <a:effectLst/>
      </c:spPr>
    </c:plotArea>
    <c:plotVisOnly val="1"/>
    <c:dispBlanksAs val="span"/>
  </c:chart>
  <c:spPr>
    <a:solidFill>
      <a:srgbClr val="11141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an AI agent that runs a small language model on your own computer through Ollama and uses validated, deterministic tools. It was undertaken as part of the AI/ML EWB internship course. The buttons at the bottom jump to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agents cost money, send private data away, need a connection, and hide the agent loop. Small local models make a fully local, inspectable agent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O1 to O6, and what is deliberately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diagram step by step: two interfaces share one agent loop; only llm.py talks to the model; every action goes through the ToolRegistry; config.py enforces the offline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 the prompt never leaves the computer. AgentForge talks to Ollama over the loopback address, ignoring proxy settings and redirects. Then walk through the six steps of Agent.run.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taken from llm.py and tools.py. Mention that real-model tool reliability has not yet been measured in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inside the dashed box runs on the user's computer. The right column lists what the code blocks, each covered by an automated test. Notes are not encrypted, which is listed as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captured from the running application on 28 October 2026. No language model was available during development, so neither shows a model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the real number of automated tests per area. No language model was available, so the three live tests were skipped; that run is still to be done on the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validation prevents unsafe actions, not wrong answers. The first future step is a real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contribution: the engineering around the model. Point to the references and the project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the EWB Courses programme, and acknowledge the upstream author. The links on this slide are clickable.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F Title">
    <p:bg>
      <p:bgPr>
        <a:solidFill>
          <a:srgbClr val="0B0D1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051560"/>
          </a:xfrm>
          <a:prstGeom prst="rect">
            <a:avLst/>
          </a:prstGeom>
          <a:noFill/>
          <a:ln/>
        </p:spPr>
        <p:txBody>
          <a:bodyPr wrap="square" rtlCol="0"/>
          <a:lstStyle>
            <a:lvl1pPr algn="l" indent="0" marL="0">
              <a:buNone/>
              <a:defRPr lang="en-US" sz="5400" b="1" dirty="0">
                <a:solidFill>
                  <a:schemeClr val="tx1"/>
                </a:solidFill>
                <a:latin typeface="Arial" pitchFamily="34" charset="0"/>
                <a:ea typeface="Arial" pitchFamily="34" charset="-122"/>
                <a:cs typeface="Arial" pitchFamily="34" charset="-120"/>
              </a:defRPr>
            </a:lvl1pPr>
          </a:lstStyle>
          <a:p>
            <a:pPr algn="l" indent="0" marL="0">
              <a:buNone/>
            </a:pPr>
            <a:endParaRPr lang="en-US" sz="5400" dirty="0"/>
          </a:p>
        </p:txBody>
      </p:sp>
      <p:sp>
        <p:nvSpPr>
          <p:cNvPr id="3" name="Text 0"/>
          <p:cNvSpPr/>
          <p:nvPr>
            <p:ph idx="101" type="body" hasCustomPrompt="1"/>
          </p:nvPr>
        </p:nvSpPr>
        <p:spPr>
          <a:xfrm>
            <a:off x="731520" y="3200400"/>
            <a:ext cx="10698480" cy="548640"/>
          </a:xfrm>
          <a:prstGeom prst="rect">
            <a:avLst/>
          </a:prstGeom>
          <a:noFill/>
          <a:ln/>
        </p:spPr>
        <p:txBody>
          <a:bodyPr wrap="square" rtlCol="0"/>
          <a:lstStyle>
            <a:lvl1pPr algn="l" indent="0" marL="0">
              <a:buNone/>
              <a:defRPr lang="en-US" sz="2100" dirty="0">
                <a:solidFill>
                  <a:schemeClr val="accent1"/>
                </a:solidFill>
                <a:latin typeface="Calibri" pitchFamily="34" charset="0"/>
                <a:ea typeface="Calibri" pitchFamily="34" charset="-122"/>
                <a:cs typeface="Calibri" pitchFamily="34" charset="-120"/>
              </a:defRPr>
            </a:lvl1pPr>
          </a:lstStyle>
          <a:p>
            <a:pPr algn="l" indent="0" marL="0">
              <a:buNone/>
            </a:pPr>
            <a:endParaRPr lang="en-US" sz="2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F Content">
    <p:bg>
      <p:bgPr>
        <a:solidFill>
          <a:srgbClr val="11141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548640" y="6419088"/>
            <a:ext cx="2743200" cy="256032"/>
          </a:xfrm>
          <a:prstGeom prst="rect">
            <a:avLst/>
          </a:prstGeom>
          <a:noFill/>
          <a:ln/>
        </p:spPr>
        <p:txBody>
          <a:bodyPr wrap="square" lIns="0" tIns="0" rIns="0" bIns="0" rtlCol="0" anchor="ctr"/>
          <a:lstStyle/>
          <a:p>
            <a:pPr indent="0" marL="0">
              <a:buNone/>
            </a:pPr>
            <a:r>
              <a:rPr lang="en-US" sz="1000" dirty="0">
                <a:solidFill>
                  <a:schemeClr val="tx2"/>
                </a:solidFill>
                <a:latin typeface="Calibri" pitchFamily="34" charset="0"/>
                <a:ea typeface="Calibri" pitchFamily="34" charset="-122"/>
                <a:cs typeface="Calibri" pitchFamily="34" charset="-120"/>
              </a:rPr>
              <a:t>AgentForge Local AI</a:t>
            </a:r>
            <a:endParaRPr lang="en-US" sz="1000" dirty="0"/>
          </a:p>
        </p:txBody>
      </p:sp>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7.xml"/><Relationship Id="rId6" Type="http://schemas.openxmlformats.org/officeDocument/2006/relationships/slide" Target="slide9.xml"/><Relationship Id="rId7" Type="http://schemas.openxmlformats.org/officeDocument/2006/relationships/slide" Target="slide12.xml"/><Relationship Id="rId1" Type="http://schemas.openxmlformats.org/officeDocument/2006/relationships/image" Target="../media/image-1-1.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7.xml"/><Relationship Id="rId5" Type="http://schemas.openxmlformats.org/officeDocument/2006/relationships/slide" Target="slide9.xml"/><Relationship Id="rId6" Type="http://schemas.openxmlformats.org/officeDocument/2006/relationships/slide" Target="slide12.xml"/><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2-5.png"/><Relationship Id="rId12" Type="http://schemas.openxmlformats.org/officeDocument/2006/relationships/slideLayout" Target="../slideLayouts/slideLayout3.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7.xml"/><Relationship Id="rId5" Type="http://schemas.openxmlformats.org/officeDocument/2006/relationships/slide" Target="slide9.xml"/><Relationship Id="rId6" Type="http://schemas.openxmlformats.org/officeDocument/2006/relationships/slide" Target="slide12.xml"/><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 Id="rId12" Type="http://schemas.openxmlformats.org/officeDocument/2006/relationships/image" Target="../media/image-3-6.png"/><Relationship Id="rId13" Type="http://schemas.openxmlformats.org/officeDocument/2006/relationships/slideLayout" Target="../slideLayouts/slideLayout3.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2.xml"/><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4.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2.xml"/><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7.xml"/><Relationship Id="rId5" Type="http://schemas.openxmlformats.org/officeDocument/2006/relationships/slide" Target="slide9.xml"/><Relationship Id="rId6" Type="http://schemas.openxmlformats.org/officeDocument/2006/relationships/slide" Target="slide12.xml"/><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9.xml"/><Relationship Id="rId5" Type="http://schemas.openxmlformats.org/officeDocument/2006/relationships/slide" Target="slide12.xml"/><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image" Target="../media/image-7-4.png"/><Relationship Id="rId10" Type="http://schemas.openxmlformats.org/officeDocument/2006/relationships/image" Target="../media/image-7-5.png"/><Relationship Id="rId11" Type="http://schemas.openxmlformats.org/officeDocument/2006/relationships/slideLayout" Target="../slideLayouts/slideLayout3.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7.xml"/><Relationship Id="rId5" Type="http://schemas.openxmlformats.org/officeDocument/2006/relationships/slide" Target="slide9.xml"/><Relationship Id="rId6" Type="http://schemas.openxmlformats.org/officeDocument/2006/relationships/slide" Target="slide12.xml"/><Relationship Id="rId7" Type="http://schemas.openxmlformats.org/officeDocument/2006/relationships/image" Target="../media/image-8-1.png"/><Relationship Id="rId8" Type="http://schemas.openxmlformats.org/officeDocument/2006/relationships/image" Target="../media/image-8-2.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7.xml"/><Relationship Id="rId5" Type="http://schemas.openxmlformats.org/officeDocument/2006/relationships/slide" Target="slide12.xml"/><Relationship Id="rId6" Type="http://schemas.openxmlformats.org/officeDocument/2006/relationships/chart" Target="/ppt/charts/chart1.xml"/><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7.xml"/><Relationship Id="rId5" Type="http://schemas.openxmlformats.org/officeDocument/2006/relationships/slide" Target="slide9.xml"/><Relationship Id="rId6" Type="http://schemas.openxmlformats.org/officeDocument/2006/relationships/slide" Target="slide12.xml"/><Relationship Id="rId7" Type="http://schemas.openxmlformats.org/officeDocument/2006/relationships/image" Target="../media/image-10-1.png"/><Relationship Id="rId8" Type="http://schemas.openxmlformats.org/officeDocument/2006/relationships/image" Target="../media/image-10-2.pn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7.xml"/><Relationship Id="rId5" Type="http://schemas.openxmlformats.org/officeDocument/2006/relationships/slide" Target="slide9.xml"/><Relationship Id="rId6" Type="http://schemas.openxmlformats.org/officeDocument/2006/relationships/slide" Target="slide12.xml"/><Relationship Id="rId7" Type="http://schemas.openxmlformats.org/officeDocument/2006/relationships/hyperlink" Target="https://github.com/BhargavaKandala/Fully-Offline-AI-agent-using-SLM" TargetMode="External"/><Relationship Id="rId8" Type="http://schemas.openxmlformats.org/officeDocument/2006/relationships/slideLayout" Target="../slideLayouts/slideLayout3.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7.xml"/><Relationship Id="rId5" Type="http://schemas.openxmlformats.org/officeDocument/2006/relationships/slide" Target="slide9.xml"/><Relationship Id="rId8" Type="http://schemas.openxmlformats.org/officeDocument/2006/relationships/hyperlink" Target="mailto:saqibahmadbhat885@gmail.com" TargetMode="External"/><Relationship Id="rId10" Type="http://schemas.openxmlformats.org/officeDocument/2006/relationships/hyperlink" Target="https://www.linkedin.com/in/saqibahmadbhat/" TargetMode="External"/><Relationship Id="rId12" Type="http://schemas.openxmlformats.org/officeDocument/2006/relationships/hyperlink" Target="https://orcid.org/0009-0003-9248-6174" TargetMode="External"/><Relationship Id="rId14" Type="http://schemas.openxmlformats.org/officeDocument/2006/relationships/hyperlink" Target="https://github.com/SaqibAhmadBhat/agentforge-local-ai" TargetMode="External"/><Relationship Id="rId16" Type="http://schemas.openxmlformats.org/officeDocument/2006/relationships/hyperlink" Target="https://saqibahmadbhat.github.io/agentforge-local-ai/" TargetMode="External"/><Relationship Id="rId6" Type="http://schemas.openxmlformats.org/officeDocument/2006/relationships/image" Target="../media/image-12-1.png"/><Relationship Id="rId7" Type="http://schemas.openxmlformats.org/officeDocument/2006/relationships/image" Target="../media/image-12-2.png"/><Relationship Id="rId9" Type="http://schemas.openxmlformats.org/officeDocument/2006/relationships/image" Target="../media/image-12-3.png"/><Relationship Id="rId11" Type="http://schemas.openxmlformats.org/officeDocument/2006/relationships/image" Target="../media/image-12-4.png"/><Relationship Id="rId13" Type="http://schemas.openxmlformats.org/officeDocument/2006/relationships/image" Target="../media/image-12-5.png"/><Relationship Id="rId15" Type="http://schemas.openxmlformats.org/officeDocument/2006/relationships/image" Target="../media/image-12-6.png"/><Relationship Id="rId17" Type="http://schemas.openxmlformats.org/officeDocument/2006/relationships/slideLayout" Target="../slideLayouts/slideLayout3.xml"/><Relationship Id="rId1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1: Glow violet"/>
          <p:cNvSpPr/>
          <p:nvPr/>
        </p:nvSpPr>
        <p:spPr>
          <a:xfrm>
            <a:off x="7498080" y="-2011680"/>
            <a:ext cx="6858000" cy="6858000"/>
          </a:xfrm>
          <a:prstGeom prst="ellipse">
            <a:avLst/>
          </a:prstGeom>
          <a:solidFill>
            <a:schemeClr val="accent2">
              <a:alpha val="12000"/>
            </a:schemeClr>
          </a:solidFill>
          <a:ln w="12700">
            <a:solidFill>
              <a:schemeClr val="accent2">
                <a:alpha val="0"/>
              </a:schemeClr>
            </a:solidFill>
            <a:prstDash val="solid"/>
          </a:ln>
        </p:spPr>
      </p:sp>
      <p:sp>
        <p:nvSpPr>
          <p:cNvPr id="3" name="a1: Glow blue"/>
          <p:cNvSpPr/>
          <p:nvPr/>
        </p:nvSpPr>
        <p:spPr>
          <a:xfrm>
            <a:off x="8961120" y="2926080"/>
            <a:ext cx="5029200" cy="5029200"/>
          </a:xfrm>
          <a:prstGeom prst="ellipse">
            <a:avLst/>
          </a:prstGeom>
          <a:solidFill>
            <a:schemeClr val="accent1">
              <a:alpha val="10000"/>
            </a:schemeClr>
          </a:solidFill>
          <a:ln w="12700">
            <a:solidFill>
              <a:schemeClr val="accent1">
                <a:alpha val="0"/>
              </a:schemeClr>
            </a:solidFill>
            <a:prstDash val="solid"/>
          </a:ln>
        </p:spPr>
      </p:sp>
      <p:pic>
        <p:nvPicPr>
          <p:cNvPr id="4" name="a1: Logo" descr="AgentForge logo">    </p:cNvPr>
          <p:cNvPicPr>
            <a:picLocks noChangeAspect="1"/>
          </p:cNvPicPr>
          <p:nvPr/>
        </p:nvPicPr>
        <p:blipFill>
          <a:blip r:embed="rId1"/>
          <a:stretch>
            <a:fillRect/>
          </a:stretch>
        </p:blipFill>
        <p:spPr>
          <a:xfrm>
            <a:off x="731520" y="960120"/>
            <a:ext cx="960120" cy="960120"/>
          </a:xfrm>
          <a:prstGeom prst="rect">
            <a:avLst/>
          </a:prstGeom>
        </p:spPr>
      </p:pic>
      <p:sp>
        <p:nvSpPr>
          <p:cNvPr id="5" name="Text 0"/>
          <p:cNvSpPr/>
          <p:nvPr>
            <p:ph idx="100" type="title" hasCustomPrompt="1"/>
          </p:nvPr>
        </p:nvSpPr>
        <p:spPr>
          <a:xfrm>
            <a:off x="731520" y="2103120"/>
            <a:ext cx="10698480" cy="1051560"/>
          </a:xfrm>
          <a:prstGeom prst="rect">
            <a:avLst/>
          </a:prstGeom>
          <a:noFill/>
          <a:ln/>
        </p:spPr>
        <p:txBody>
          <a:bodyPr wrap="square" lIns="0" tIns="0" rIns="0" bIns="0" rtlCol="0" anchor="ctr"/>
          <a:lstStyle/>
          <a:p>
            <a:pPr algn="l" indent="0" marL="0">
              <a:buNone/>
            </a:pPr>
            <a:r>
              <a:rPr lang="en-US" sz="5400" b="1" dirty="0">
                <a:solidFill>
                  <a:schemeClr val="tx1"/>
                </a:solidFill>
                <a:latin typeface="Arial" pitchFamily="34" charset="0"/>
                <a:ea typeface="Arial" pitchFamily="34" charset="-122"/>
                <a:cs typeface="Arial" pitchFamily="34" charset="-120"/>
              </a:rPr>
              <a:t>AgentForge Local AI</a:t>
            </a:r>
            <a:endParaRPr lang="en-US" sz="5400" dirty="0"/>
          </a:p>
        </p:txBody>
      </p:sp>
      <p:sp>
        <p:nvSpPr>
          <p:cNvPr id="6" name="Text 0"/>
          <p:cNvSpPr/>
          <p:nvPr>
            <p:ph idx="101" type="body" hasCustomPrompt="1"/>
          </p:nvPr>
        </p:nvSpPr>
        <p:spPr>
          <a:xfrm>
            <a:off x="731520" y="3200400"/>
            <a:ext cx="10698480" cy="548640"/>
          </a:xfrm>
          <a:prstGeom prst="rect">
            <a:avLst/>
          </a:prstGeom>
          <a:noFill/>
          <a:ln/>
        </p:spPr>
        <p:txBody>
          <a:bodyPr wrap="square" lIns="0" tIns="0" rIns="0" bIns="0" rtlCol="0" anchor="t"/>
          <a:lstStyle/>
          <a:p>
            <a:pPr algn="l" indent="0" marL="0">
              <a:buNone/>
            </a:pPr>
            <a:r>
              <a:rPr lang="en-US" sz="2100" dirty="0">
                <a:solidFill>
                  <a:schemeClr val="accent1"/>
                </a:solidFill>
                <a:latin typeface="Calibri" pitchFamily="34" charset="0"/>
                <a:ea typeface="Calibri" pitchFamily="34" charset="-122"/>
                <a:cs typeface="Calibri" pitchFamily="34" charset="-120"/>
              </a:rPr>
              <a:t>A Privacy Focused Offline AI Agent Powered by Small Language Models</a:t>
            </a:r>
            <a:endParaRPr lang="en-US" sz="2100" dirty="0"/>
          </a:p>
        </p:txBody>
      </p:sp>
      <p:sp>
        <p:nvSpPr>
          <p:cNvPr id="7" name="a3: Tagline"/>
          <p:cNvSpPr txBox="1"/>
          <p:nvPr/>
        </p:nvSpPr>
        <p:spPr>
          <a:xfrm>
            <a:off x="731520" y="3794760"/>
            <a:ext cx="10698480" cy="411480"/>
          </a:xfrm>
          <a:prstGeom prst="rect">
            <a:avLst/>
          </a:prstGeom>
          <a:noFill/>
          <a:ln/>
        </p:spPr>
        <p:txBody>
          <a:bodyPr wrap="square" lIns="0" tIns="0" rIns="0" bIns="0" rtlCol="0" anchor="t"/>
          <a:lstStyle/>
          <a:p>
            <a:pPr indent="0" marL="0">
              <a:buNone/>
            </a:pPr>
            <a:r>
              <a:rPr lang="en-US" sz="1800" i="1" dirty="0">
                <a:solidFill>
                  <a:schemeClr val="tx2"/>
                </a:solidFill>
                <a:latin typeface="Calibri" pitchFamily="34" charset="0"/>
                <a:ea typeface="Calibri" pitchFamily="34" charset="-122"/>
                <a:cs typeface="Calibri" pitchFamily="34" charset="-120"/>
              </a:rPr>
              <a:t>Run locally. Use tools intelligently. Keep your data under your control.</a:t>
            </a:r>
            <a:endParaRPr lang="en-US" sz="1800" dirty="0"/>
          </a:p>
        </p:txBody>
      </p:sp>
      <p:sp>
        <p:nvSpPr>
          <p:cNvPr id="8" name="a4: Author block"/>
          <p:cNvSpPr txBox="1"/>
          <p:nvPr/>
        </p:nvSpPr>
        <p:spPr>
          <a:xfrm>
            <a:off x="731520" y="4526280"/>
            <a:ext cx="10698480" cy="96012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latin typeface="Calibri" pitchFamily="34" charset="0"/>
                <a:ea typeface="Calibri" pitchFamily="34" charset="-122"/>
                <a:cs typeface="Calibri" pitchFamily="34" charset="-120"/>
              </a:rPr>
              <a:t>Saqib Ahmad Bhat</a:t>
            </a:r>
            <a:endParaRPr lang="en-US" sz="1800" dirty="0"/>
          </a:p>
          <a:p>
            <a:pPr indent="0" marL="0">
              <a:spcAft>
                <a:spcPts val="200"/>
              </a:spcAft>
              <a:buNone/>
            </a:pPr>
            <a:r>
              <a:rPr lang="en-US" sz="1400" dirty="0">
                <a:solidFill>
                  <a:schemeClr val="tx2"/>
                </a:solidFill>
                <a:latin typeface="Calibri" pitchFamily="34" charset="0"/>
                <a:ea typeface="Calibri" pitchFamily="34" charset="-122"/>
                <a:cs typeface="Calibri" pitchFamily="34" charset="-120"/>
              </a:rPr>
              <a:t>Student Developer · B.E. Computer Science and Engineering · Government College of Engineering, Tirunelveli</a:t>
            </a:r>
            <a:endParaRPr lang="en-US" sz="1800" dirty="0"/>
          </a:p>
          <a:p>
            <a:pPr indent="0" marL="0">
              <a:spcAft>
                <a:spcPts val="200"/>
              </a:spcAft>
              <a:buNone/>
            </a:pPr>
            <a:r>
              <a:rPr lang="en-US" sz="1400" dirty="0">
                <a:solidFill>
                  <a:schemeClr val="accent2"/>
                </a:solidFill>
                <a:latin typeface="Calibri" pitchFamily="34" charset="0"/>
                <a:ea typeface="Calibri" pitchFamily="34" charset="-122"/>
                <a:cs typeface="Calibri" pitchFamily="34" charset="-120"/>
              </a:rPr>
              <a:t>AI/ML EWB internship course, under the supervision of the EWB Courses programme</a:t>
            </a:r>
            <a:endParaRPr lang="en-US" sz="1800" dirty="0"/>
          </a:p>
        </p:txBody>
      </p:sp>
      <p:sp>
        <p:nvSpPr>
          <p:cNvPr id="9" name="a5: Chip Overview"/>
          <p:cNvSpPr/>
          <p:nvPr/>
        </p:nvSpPr>
        <p:spPr>
          <a:xfrm>
            <a:off x="731520" y="5760720"/>
            <a:ext cx="1344168" cy="384048"/>
          </a:xfrm>
          <a:prstGeom prst="roundRect">
            <a:avLst>
              <a:gd name="adj" fmla="val 50000"/>
            </a:avLst>
          </a:prstGeom>
          <a:solidFill>
            <a:schemeClr val="bg2"/>
          </a:solidFill>
          <a:ln w="12700">
            <a:solidFill>
              <a:schemeClr val="accent6"/>
            </a:solidFill>
            <a:prstDash val="solid"/>
          </a:ln>
        </p:spPr>
      </p:sp>
      <p:sp>
        <p:nvSpPr>
          <p:cNvPr id="10" name="a5: Chip Overview link"/>
          <p:cNvSpPr txBox="1"/>
          <p:nvPr/>
        </p:nvSpPr>
        <p:spPr>
          <a:xfrm>
            <a:off x="731520" y="5760720"/>
            <a:ext cx="1344168" cy="384048"/>
          </a:xfrm>
          <a:prstGeom prst="rect">
            <a:avLst/>
          </a:prstGeom>
          <a:noFill/>
          <a:ln/>
        </p:spPr>
        <p:txBody>
          <a:bodyPr wrap="square" lIns="0" tIns="0" rIns="0" bIns="0" rtlCol="0" anchor="ctr"/>
          <a:lstStyle/>
          <a:p>
            <a:pPr algn="ctr" indent="0" marL="0">
              <a:buNone/>
            </a:pPr>
            <a:r>
              <a:rPr lang="en-US" sz="1300" u="sng" dirty="0">
                <a:solidFill>
                  <a:schemeClr val="tx1"/>
                </a:solidFill>
                <a:latin typeface="Calibri" pitchFamily="34" charset="0"/>
                <a:ea typeface="Calibri" pitchFamily="34" charset="-122"/>
                <a:cs typeface="Calibri" pitchFamily="34" charset="-120"/>
                <a:hlinkClick r:id="rId2" action="ppaction://hlinksldjump" tooltip="Go to Overview">
                  <a:extLst>
                    <a:ext uri="{A12FA001-AC4F-418D-AE19-62706E023703}">
                      <ahyp:hlinkClr xmlns:ahyp="http://schemas.microsoft.com/office/drawing/2018/hyperlinkcolor" val="tx"/>
                    </a:ext>
                  </a:extLst>
                </a:hlinkClick>
              </a:rPr>
              <a:t>Overview</a:t>
            </a:r>
            <a:endParaRPr lang="en-US" sz="1300" dirty="0"/>
          </a:p>
        </p:txBody>
      </p:sp>
      <p:sp>
        <p:nvSpPr>
          <p:cNvPr id="11" name="a5: Chip Architecture"/>
          <p:cNvSpPr/>
          <p:nvPr/>
        </p:nvSpPr>
        <p:spPr>
          <a:xfrm>
            <a:off x="2212848" y="5760720"/>
            <a:ext cx="1344168" cy="384048"/>
          </a:xfrm>
          <a:prstGeom prst="roundRect">
            <a:avLst>
              <a:gd name="adj" fmla="val 50000"/>
            </a:avLst>
          </a:prstGeom>
          <a:solidFill>
            <a:schemeClr val="bg2"/>
          </a:solidFill>
          <a:ln w="12700">
            <a:solidFill>
              <a:schemeClr val="accent6"/>
            </a:solidFill>
            <a:prstDash val="solid"/>
          </a:ln>
        </p:spPr>
      </p:sp>
      <p:sp>
        <p:nvSpPr>
          <p:cNvPr id="12" name="a5: Chip Architecture link"/>
          <p:cNvSpPr txBox="1"/>
          <p:nvPr/>
        </p:nvSpPr>
        <p:spPr>
          <a:xfrm>
            <a:off x="2212848" y="5760720"/>
            <a:ext cx="1344168" cy="384048"/>
          </a:xfrm>
          <a:prstGeom prst="rect">
            <a:avLst/>
          </a:prstGeom>
          <a:noFill/>
          <a:ln/>
        </p:spPr>
        <p:txBody>
          <a:bodyPr wrap="square" lIns="0" tIns="0" rIns="0" bIns="0" rtlCol="0" anchor="ctr"/>
          <a:lstStyle/>
          <a:p>
            <a:pPr algn="ctr" indent="0" marL="0">
              <a:buNone/>
            </a:pPr>
            <a:r>
              <a:rPr lang="en-US" sz="1300" u="sng" dirty="0">
                <a:solidFill>
                  <a:schemeClr val="tx1"/>
                </a:solidFill>
                <a:latin typeface="Calibri" pitchFamily="34" charset="0"/>
                <a:ea typeface="Calibri" pitchFamily="34" charset="-122"/>
                <a:cs typeface="Calibri" pitchFamily="34" charset="-120"/>
                <a:hlinkClick r:id="rId3" action="ppaction://hlinksldjump" tooltip="Go to Architecture">
                  <a:extLst>
                    <a:ext uri="{A12FA001-AC4F-418D-AE19-62706E023703}">
                      <ahyp:hlinkClr xmlns:ahyp="http://schemas.microsoft.com/office/drawing/2018/hyperlinkcolor" val="tx"/>
                    </a:ext>
                  </a:extLst>
                </a:hlinkClick>
              </a:rPr>
              <a:t>Architecture</a:t>
            </a:r>
            <a:endParaRPr lang="en-US" sz="1300" dirty="0"/>
          </a:p>
        </p:txBody>
      </p:sp>
      <p:sp>
        <p:nvSpPr>
          <p:cNvPr id="13" name="a5: Chip Pipeline"/>
          <p:cNvSpPr/>
          <p:nvPr/>
        </p:nvSpPr>
        <p:spPr>
          <a:xfrm>
            <a:off x="3694176" y="5760720"/>
            <a:ext cx="1344168" cy="384048"/>
          </a:xfrm>
          <a:prstGeom prst="roundRect">
            <a:avLst>
              <a:gd name="adj" fmla="val 50000"/>
            </a:avLst>
          </a:prstGeom>
          <a:solidFill>
            <a:schemeClr val="bg2"/>
          </a:solidFill>
          <a:ln w="12700">
            <a:solidFill>
              <a:schemeClr val="accent6"/>
            </a:solidFill>
            <a:prstDash val="solid"/>
          </a:ln>
        </p:spPr>
      </p:sp>
      <p:sp>
        <p:nvSpPr>
          <p:cNvPr id="14" name="a5: Chip Pipeline link"/>
          <p:cNvSpPr txBox="1"/>
          <p:nvPr/>
        </p:nvSpPr>
        <p:spPr>
          <a:xfrm>
            <a:off x="3694176" y="5760720"/>
            <a:ext cx="1344168" cy="384048"/>
          </a:xfrm>
          <a:prstGeom prst="rect">
            <a:avLst/>
          </a:prstGeom>
          <a:noFill/>
          <a:ln/>
        </p:spPr>
        <p:txBody>
          <a:bodyPr wrap="square" lIns="0" tIns="0" rIns="0" bIns="0" rtlCol="0" anchor="ctr"/>
          <a:lstStyle/>
          <a:p>
            <a:pPr algn="ctr" indent="0" marL="0">
              <a:buNone/>
            </a:pPr>
            <a:r>
              <a:rPr lang="en-US" sz="1300" u="sng" dirty="0">
                <a:solidFill>
                  <a:schemeClr val="tx1"/>
                </a:solidFill>
                <a:latin typeface="Calibri" pitchFamily="34" charset="0"/>
                <a:ea typeface="Calibri" pitchFamily="34" charset="-122"/>
                <a:cs typeface="Calibri" pitchFamily="34" charset="-120"/>
                <a:hlinkClick r:id="rId4" action="ppaction://hlinksldjump" tooltip="Go to Pipeline">
                  <a:extLst>
                    <a:ext uri="{A12FA001-AC4F-418D-AE19-62706E023703}">
                      <ahyp:hlinkClr xmlns:ahyp="http://schemas.microsoft.com/office/drawing/2018/hyperlinkcolor" val="tx"/>
                    </a:ext>
                  </a:extLst>
                </a:hlinkClick>
              </a:rPr>
              <a:t>Pipeline</a:t>
            </a:r>
            <a:endParaRPr lang="en-US" sz="1300" dirty="0"/>
          </a:p>
        </p:txBody>
      </p:sp>
      <p:sp>
        <p:nvSpPr>
          <p:cNvPr id="15" name="a5: Chip Security"/>
          <p:cNvSpPr/>
          <p:nvPr/>
        </p:nvSpPr>
        <p:spPr>
          <a:xfrm>
            <a:off x="5175504" y="5760720"/>
            <a:ext cx="1344168" cy="384048"/>
          </a:xfrm>
          <a:prstGeom prst="roundRect">
            <a:avLst>
              <a:gd name="adj" fmla="val 50000"/>
            </a:avLst>
          </a:prstGeom>
          <a:solidFill>
            <a:schemeClr val="bg2"/>
          </a:solidFill>
          <a:ln w="12700">
            <a:solidFill>
              <a:schemeClr val="accent6"/>
            </a:solidFill>
            <a:prstDash val="solid"/>
          </a:ln>
        </p:spPr>
      </p:sp>
      <p:sp>
        <p:nvSpPr>
          <p:cNvPr id="16" name="a5: Chip Security link"/>
          <p:cNvSpPr txBox="1"/>
          <p:nvPr/>
        </p:nvSpPr>
        <p:spPr>
          <a:xfrm>
            <a:off x="5175504" y="5760720"/>
            <a:ext cx="1344168" cy="384048"/>
          </a:xfrm>
          <a:prstGeom prst="rect">
            <a:avLst/>
          </a:prstGeom>
          <a:noFill/>
          <a:ln/>
        </p:spPr>
        <p:txBody>
          <a:bodyPr wrap="square" lIns="0" tIns="0" rIns="0" bIns="0" rtlCol="0" anchor="ctr"/>
          <a:lstStyle/>
          <a:p>
            <a:pPr algn="ctr" indent="0" marL="0">
              <a:buNone/>
            </a:pPr>
            <a:r>
              <a:rPr lang="en-US" sz="1300" u="sng" dirty="0">
                <a:solidFill>
                  <a:schemeClr val="tx1"/>
                </a:solidFill>
                <a:latin typeface="Calibri" pitchFamily="34" charset="0"/>
                <a:ea typeface="Calibri" pitchFamily="34" charset="-122"/>
                <a:cs typeface="Calibri" pitchFamily="34" charset="-120"/>
                <a:hlinkClick r:id="rId5" action="ppaction://hlinksldjump" tooltip="Go to Security">
                  <a:extLst>
                    <a:ext uri="{A12FA001-AC4F-418D-AE19-62706E023703}">
                      <ahyp:hlinkClr xmlns:ahyp="http://schemas.microsoft.com/office/drawing/2018/hyperlinkcolor" val="tx"/>
                    </a:ext>
                  </a:extLst>
                </a:hlinkClick>
              </a:rPr>
              <a:t>Security</a:t>
            </a:r>
            <a:endParaRPr lang="en-US" sz="1300" dirty="0"/>
          </a:p>
        </p:txBody>
      </p:sp>
      <p:sp>
        <p:nvSpPr>
          <p:cNvPr id="17" name="a5: Chip Results"/>
          <p:cNvSpPr/>
          <p:nvPr/>
        </p:nvSpPr>
        <p:spPr>
          <a:xfrm>
            <a:off x="6656832" y="5760720"/>
            <a:ext cx="1344168" cy="384048"/>
          </a:xfrm>
          <a:prstGeom prst="roundRect">
            <a:avLst>
              <a:gd name="adj" fmla="val 50000"/>
            </a:avLst>
          </a:prstGeom>
          <a:solidFill>
            <a:schemeClr val="bg2"/>
          </a:solidFill>
          <a:ln w="12700">
            <a:solidFill>
              <a:schemeClr val="accent6"/>
            </a:solidFill>
            <a:prstDash val="solid"/>
          </a:ln>
        </p:spPr>
      </p:sp>
      <p:sp>
        <p:nvSpPr>
          <p:cNvPr id="18" name="a5: Chip Results link"/>
          <p:cNvSpPr txBox="1"/>
          <p:nvPr/>
        </p:nvSpPr>
        <p:spPr>
          <a:xfrm>
            <a:off x="6656832" y="5760720"/>
            <a:ext cx="1344168" cy="384048"/>
          </a:xfrm>
          <a:prstGeom prst="rect">
            <a:avLst/>
          </a:prstGeom>
          <a:noFill/>
          <a:ln/>
        </p:spPr>
        <p:txBody>
          <a:bodyPr wrap="square" lIns="0" tIns="0" rIns="0" bIns="0" rtlCol="0" anchor="ctr"/>
          <a:lstStyle/>
          <a:p>
            <a:pPr algn="ctr" indent="0" marL="0">
              <a:buNone/>
            </a:pPr>
            <a:r>
              <a:rPr lang="en-US" sz="1300" u="sng" dirty="0">
                <a:solidFill>
                  <a:schemeClr val="tx1"/>
                </a:solidFill>
                <a:latin typeface="Calibri" pitchFamily="34" charset="0"/>
                <a:ea typeface="Calibri" pitchFamily="34" charset="-122"/>
                <a:cs typeface="Calibri" pitchFamily="34" charset="-120"/>
                <a:hlinkClick r:id="rId6" action="ppaction://hlinksldjump" tooltip="Go to Results">
                  <a:extLst>
                    <a:ext uri="{A12FA001-AC4F-418D-AE19-62706E023703}">
                      <ahyp:hlinkClr xmlns:ahyp="http://schemas.microsoft.com/office/drawing/2018/hyperlinkcolor" val="tx"/>
                    </a:ext>
                  </a:extLst>
                </a:hlinkClick>
              </a:rPr>
              <a:t>Results</a:t>
            </a:r>
            <a:endParaRPr lang="en-US" sz="1300" dirty="0"/>
          </a:p>
        </p:txBody>
      </p:sp>
      <p:sp>
        <p:nvSpPr>
          <p:cNvPr id="19" name="a5: Chip Contact"/>
          <p:cNvSpPr/>
          <p:nvPr/>
        </p:nvSpPr>
        <p:spPr>
          <a:xfrm>
            <a:off x="8138160" y="5760720"/>
            <a:ext cx="1344168" cy="384048"/>
          </a:xfrm>
          <a:prstGeom prst="roundRect">
            <a:avLst>
              <a:gd name="adj" fmla="val 50000"/>
            </a:avLst>
          </a:prstGeom>
          <a:solidFill>
            <a:schemeClr val="bg2"/>
          </a:solidFill>
          <a:ln w="12700">
            <a:solidFill>
              <a:schemeClr val="accent6"/>
            </a:solidFill>
            <a:prstDash val="solid"/>
          </a:ln>
        </p:spPr>
      </p:sp>
      <p:sp>
        <p:nvSpPr>
          <p:cNvPr id="20" name="a5: Chip Contact link"/>
          <p:cNvSpPr txBox="1"/>
          <p:nvPr/>
        </p:nvSpPr>
        <p:spPr>
          <a:xfrm>
            <a:off x="8138160" y="5760720"/>
            <a:ext cx="1344168" cy="384048"/>
          </a:xfrm>
          <a:prstGeom prst="rect">
            <a:avLst/>
          </a:prstGeom>
          <a:noFill/>
          <a:ln/>
        </p:spPr>
        <p:txBody>
          <a:bodyPr wrap="square" lIns="0" tIns="0" rIns="0" bIns="0" rtlCol="0" anchor="ctr"/>
          <a:lstStyle/>
          <a:p>
            <a:pPr algn="ctr" indent="0" marL="0">
              <a:buNone/>
            </a:pPr>
            <a:r>
              <a:rPr lang="en-US" sz="1300" u="sng" dirty="0">
                <a:solidFill>
                  <a:schemeClr val="tx1"/>
                </a:solidFill>
                <a:latin typeface="Calibri" pitchFamily="34" charset="0"/>
                <a:ea typeface="Calibri" pitchFamily="34" charset="-122"/>
                <a:cs typeface="Calibri" pitchFamily="34" charset="-120"/>
                <a:hlinkClick r:id="rId7" action="ppaction://hlinksldjump" tooltip="Go to Contact">
                  <a:extLst>
                    <a:ext uri="{A12FA001-AC4F-418D-AE19-62706E023703}">
                      <ahyp:hlinkClr xmlns:ahyp="http://schemas.microsoft.com/office/drawing/2018/hyperlinkcolor" val="tx"/>
                    </a:ext>
                  </a:extLst>
                </a:hlinkClick>
              </a:rPr>
              <a:t>Contact</a:t>
            </a:r>
            <a:endParaRPr lang="en-US" sz="13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8"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25" fill="hold">
                            <p:stCondLst>
                              <p:cond delay="7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par>
                          <p:cTn id="29" fill="hold">
                            <p:stCondLst>
                              <p:cond delay="1050"/>
                            </p:stCondLst>
                            <p:childTnLst>
                              <p:par>
                                <p:cTn id="26" presetID="10"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par>
                          <p:cTn id="66" fill="hold">
                            <p:stCondLst>
                              <p:cond delay="1400"/>
                            </p:stCondLst>
                            <p:childTnLst>
                              <p:par>
                                <p:cTn id="30" presetID="10" presetClass="entr" presetSubtype="0"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7" grpId="0" animBg="1"/>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Problem statement and motivation</a:t>
            </a:r>
            <a:endParaRPr lang="en-US" sz="3200" dirty="0"/>
          </a:p>
        </p:txBody>
      </p:sp>
      <p:sp>
        <p:nvSpPr>
          <p:cNvPr id="3" name="Section navigation"/>
          <p:cNvSpPr txBox="1"/>
          <p:nvPr/>
        </p:nvSpPr>
        <p:spPr>
          <a:xfrm>
            <a:off x="4206240" y="6400800"/>
            <a:ext cx="6766560" cy="274320"/>
          </a:xfrm>
          <a:prstGeom prst="rect">
            <a:avLst/>
          </a:prstGeom>
          <a:noFill/>
          <a:ln/>
        </p:spPr>
        <p:txBody>
          <a:bodyPr wrap="square" lIns="0" tIns="0" rIns="0" bIns="0" rtlCol="0" anchor="t"/>
          <a:lstStyle/>
          <a:p>
            <a:pPr algn="r" indent="0" marL="0">
              <a:buNone/>
            </a:pPr>
            <a:r>
              <a:rPr lang="en-US" sz="1000" u="sng" dirty="0">
                <a:solidFill>
                  <a:schemeClr val="tx2"/>
                </a:solidFill>
                <a:latin typeface="Calibri" pitchFamily="34" charset="0"/>
                <a:ea typeface="Calibri" pitchFamily="34" charset="-122"/>
                <a:cs typeface="Calibri" pitchFamily="34" charset="-120"/>
                <a:hlinkClick r:id="rId1" action="ppaction://hlinksldjump" tooltip="Go to Home">
                  <a:extLst>
                    <a:ext uri="{A12FA001-AC4F-418D-AE19-62706E023703}">
                      <ahyp:hlinkClr xmlns:ahyp="http://schemas.microsoft.com/office/drawing/2018/hyperlinkcolor" val="tx"/>
                    </a:ext>
                  </a:extLst>
                </a:hlinkClick>
              </a:rPr>
              <a:t>Home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2" action="ppaction://hlinksldjump" tooltip="Go to Architecture">
                  <a:extLst>
                    <a:ext uri="{A12FA001-AC4F-418D-AE19-62706E023703}">
                      <ahyp:hlinkClr xmlns:ahyp="http://schemas.microsoft.com/office/drawing/2018/hyperlinkcolor" val="tx"/>
                    </a:ext>
                  </a:extLst>
                </a:hlinkClick>
              </a:rPr>
              <a:t>Architecture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3" action="ppaction://hlinksldjump" tooltip="Go to Pipeline">
                  <a:extLst>
                    <a:ext uri="{A12FA001-AC4F-418D-AE19-62706E023703}">
                      <ahyp:hlinkClr xmlns:ahyp="http://schemas.microsoft.com/office/drawing/2018/hyperlinkcolor" val="tx"/>
                    </a:ext>
                  </a:extLst>
                </a:hlinkClick>
              </a:rPr>
              <a:t>Pipeline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4" action="ppaction://hlinksldjump" tooltip="Go to Security">
                  <a:extLst>
                    <a:ext uri="{A12FA001-AC4F-418D-AE19-62706E023703}">
                      <ahyp:hlinkClr xmlns:ahyp="http://schemas.microsoft.com/office/drawing/2018/hyperlinkcolor" val="tx"/>
                    </a:ext>
                  </a:extLst>
                </a:hlinkClick>
              </a:rPr>
              <a:t>Security</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5" action="ppaction://hlinksldjump" tooltip="Go to Results">
                  <a:extLst>
                    <a:ext uri="{A12FA001-AC4F-418D-AE19-62706E023703}">
                      <ahyp:hlinkClr xmlns:ahyp="http://schemas.microsoft.com/office/drawing/2018/hyperlinkcolor" val="tx"/>
                    </a:ext>
                  </a:extLst>
                </a:hlinkClick>
              </a:rPr>
              <a:t>Results</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6" action="ppaction://hlinksldjump" tooltip="Go to Contact">
                  <a:extLst>
                    <a:ext uri="{A12FA001-AC4F-418D-AE19-62706E023703}">
                      <ahyp:hlinkClr xmlns:ahyp="http://schemas.microsoft.com/office/drawing/2018/hyperlinkcolor" val="tx"/>
                    </a:ext>
                  </a:extLst>
                </a:hlinkClick>
              </a:rPr>
              <a:t>Contact</a:t>
            </a:r>
            <a:endParaRPr lang="en-US" sz="1000" dirty="0"/>
          </a:p>
        </p:txBody>
      </p:sp>
      <p:sp>
        <p:nvSpPr>
          <p:cNvPr id="4" name="a1: Problem card Cost"/>
          <p:cNvSpPr/>
          <p:nvPr/>
        </p:nvSpPr>
        <p:spPr>
          <a:xfrm>
            <a:off x="548640" y="1371600"/>
            <a:ext cx="2606040" cy="2743200"/>
          </a:xfrm>
          <a:prstGeom prst="roundRect">
            <a:avLst>
              <a:gd name="adj" fmla="val 4211"/>
            </a:avLst>
          </a:prstGeom>
          <a:solidFill>
            <a:schemeClr val="bg2"/>
          </a:solidFill>
          <a:ln w="12700">
            <a:solidFill>
              <a:schemeClr val="accent6"/>
            </a:solidFill>
            <a:prstDash val="solid"/>
          </a:ln>
        </p:spPr>
      </p:sp>
      <p:sp>
        <p:nvSpPr>
          <p:cNvPr id="5" name="a1: Problem Cost circle"/>
          <p:cNvSpPr/>
          <p:nvPr/>
        </p:nvSpPr>
        <p:spPr>
          <a:xfrm>
            <a:off x="822960" y="1645920"/>
            <a:ext cx="731520" cy="731520"/>
          </a:xfrm>
          <a:prstGeom prst="ellipse">
            <a:avLst/>
          </a:prstGeom>
          <a:solidFill>
            <a:schemeClr val="bg1"/>
          </a:solidFill>
          <a:ln w="19050">
            <a:solidFill>
              <a:schemeClr val="accent4"/>
            </a:solidFill>
            <a:prstDash val="solid"/>
          </a:ln>
        </p:spPr>
      </p:sp>
      <p:pic>
        <p:nvPicPr>
          <p:cNvPr id="6" name="a1: Problem Cost icon" descr="">    </p:cNvPr>
          <p:cNvPicPr>
            <a:picLocks noChangeAspect="1"/>
          </p:cNvPicPr>
          <p:nvPr/>
        </p:nvPicPr>
        <p:blipFill>
          <a:blip r:embed="rId7"/>
          <a:stretch>
            <a:fillRect/>
          </a:stretch>
        </p:blipFill>
        <p:spPr>
          <a:xfrm>
            <a:off x="983894" y="1806854"/>
            <a:ext cx="409651" cy="409651"/>
          </a:xfrm>
          <a:prstGeom prst="rect">
            <a:avLst/>
          </a:prstGeom>
        </p:spPr>
      </p:pic>
      <p:sp>
        <p:nvSpPr>
          <p:cNvPr id="7" name="a1: Problem Cost head"/>
          <p:cNvSpPr txBox="1"/>
          <p:nvPr/>
        </p:nvSpPr>
        <p:spPr>
          <a:xfrm>
            <a:off x="822960" y="2560320"/>
            <a:ext cx="210312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Cost</a:t>
            </a:r>
            <a:endParaRPr lang="en-US" sz="2000" dirty="0"/>
          </a:p>
        </p:txBody>
      </p:sp>
      <p:sp>
        <p:nvSpPr>
          <p:cNvPr id="8" name="a1: Problem Cost body"/>
          <p:cNvSpPr txBox="1"/>
          <p:nvPr/>
        </p:nvSpPr>
        <p:spPr>
          <a:xfrm>
            <a:off x="822960" y="3017520"/>
            <a:ext cx="210312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Most agent demos depend on paid cloud APIs and an API key.</a:t>
            </a:r>
            <a:endParaRPr lang="en-US" sz="1400" dirty="0"/>
          </a:p>
        </p:txBody>
      </p:sp>
      <p:sp>
        <p:nvSpPr>
          <p:cNvPr id="9" name="a2: Problem card Privacy"/>
          <p:cNvSpPr/>
          <p:nvPr/>
        </p:nvSpPr>
        <p:spPr>
          <a:xfrm>
            <a:off x="3364992" y="1371600"/>
            <a:ext cx="2606040" cy="2743200"/>
          </a:xfrm>
          <a:prstGeom prst="roundRect">
            <a:avLst>
              <a:gd name="adj" fmla="val 4211"/>
            </a:avLst>
          </a:prstGeom>
          <a:solidFill>
            <a:schemeClr val="bg2"/>
          </a:solidFill>
          <a:ln w="12700">
            <a:solidFill>
              <a:schemeClr val="accent6"/>
            </a:solidFill>
            <a:prstDash val="solid"/>
          </a:ln>
        </p:spPr>
      </p:sp>
      <p:sp>
        <p:nvSpPr>
          <p:cNvPr id="10" name="a2: Problem Privacy circle"/>
          <p:cNvSpPr/>
          <p:nvPr/>
        </p:nvSpPr>
        <p:spPr>
          <a:xfrm>
            <a:off x="3639312" y="1645920"/>
            <a:ext cx="731520" cy="731520"/>
          </a:xfrm>
          <a:prstGeom prst="ellipse">
            <a:avLst/>
          </a:prstGeom>
          <a:solidFill>
            <a:schemeClr val="bg1"/>
          </a:solidFill>
          <a:ln w="19050">
            <a:solidFill>
              <a:schemeClr val="accent4"/>
            </a:solidFill>
            <a:prstDash val="solid"/>
          </a:ln>
        </p:spPr>
      </p:sp>
      <p:pic>
        <p:nvPicPr>
          <p:cNvPr id="11" name="a2: Problem Privacy icon" descr="">    </p:cNvPr>
          <p:cNvPicPr>
            <a:picLocks noChangeAspect="1"/>
          </p:cNvPicPr>
          <p:nvPr/>
        </p:nvPicPr>
        <p:blipFill>
          <a:blip r:embed="rId8"/>
          <a:stretch>
            <a:fillRect/>
          </a:stretch>
        </p:blipFill>
        <p:spPr>
          <a:xfrm>
            <a:off x="3800246" y="1806854"/>
            <a:ext cx="409651" cy="409651"/>
          </a:xfrm>
          <a:prstGeom prst="rect">
            <a:avLst/>
          </a:prstGeom>
        </p:spPr>
      </p:pic>
      <p:sp>
        <p:nvSpPr>
          <p:cNvPr id="12" name="a2: Problem Privacy head"/>
          <p:cNvSpPr txBox="1"/>
          <p:nvPr/>
        </p:nvSpPr>
        <p:spPr>
          <a:xfrm>
            <a:off x="3639312" y="2560320"/>
            <a:ext cx="210312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Privacy</a:t>
            </a:r>
            <a:endParaRPr lang="en-US" sz="2000" dirty="0"/>
          </a:p>
        </p:txBody>
      </p:sp>
      <p:sp>
        <p:nvSpPr>
          <p:cNvPr id="13" name="a2: Problem Privacy body"/>
          <p:cNvSpPr txBox="1"/>
          <p:nvPr/>
        </p:nvSpPr>
        <p:spPr>
          <a:xfrm>
            <a:off x="3639312" y="3017520"/>
            <a:ext cx="210312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Prompts, notes and documents are sent to a third-party server.</a:t>
            </a:r>
            <a:endParaRPr lang="en-US" sz="1400" dirty="0"/>
          </a:p>
        </p:txBody>
      </p:sp>
      <p:sp>
        <p:nvSpPr>
          <p:cNvPr id="14" name="a3: Problem card Connectivity"/>
          <p:cNvSpPr/>
          <p:nvPr/>
        </p:nvSpPr>
        <p:spPr>
          <a:xfrm>
            <a:off x="6181344" y="1371600"/>
            <a:ext cx="2606040" cy="2743200"/>
          </a:xfrm>
          <a:prstGeom prst="roundRect">
            <a:avLst>
              <a:gd name="adj" fmla="val 4211"/>
            </a:avLst>
          </a:prstGeom>
          <a:solidFill>
            <a:schemeClr val="bg2"/>
          </a:solidFill>
          <a:ln w="12700">
            <a:solidFill>
              <a:schemeClr val="accent6"/>
            </a:solidFill>
            <a:prstDash val="solid"/>
          </a:ln>
        </p:spPr>
      </p:sp>
      <p:sp>
        <p:nvSpPr>
          <p:cNvPr id="15" name="a3: Problem Connectivity circle"/>
          <p:cNvSpPr/>
          <p:nvPr/>
        </p:nvSpPr>
        <p:spPr>
          <a:xfrm>
            <a:off x="6455664" y="1645920"/>
            <a:ext cx="731520" cy="731520"/>
          </a:xfrm>
          <a:prstGeom prst="ellipse">
            <a:avLst/>
          </a:prstGeom>
          <a:solidFill>
            <a:schemeClr val="bg1"/>
          </a:solidFill>
          <a:ln w="19050">
            <a:solidFill>
              <a:schemeClr val="accent4"/>
            </a:solidFill>
            <a:prstDash val="solid"/>
          </a:ln>
        </p:spPr>
      </p:sp>
      <p:pic>
        <p:nvPicPr>
          <p:cNvPr id="16" name="a3: Problem Connectivity icon" descr="">    </p:cNvPr>
          <p:cNvPicPr>
            <a:picLocks noChangeAspect="1"/>
          </p:cNvPicPr>
          <p:nvPr/>
        </p:nvPicPr>
        <p:blipFill>
          <a:blip r:embed="rId9"/>
          <a:stretch>
            <a:fillRect/>
          </a:stretch>
        </p:blipFill>
        <p:spPr>
          <a:xfrm>
            <a:off x="6616598" y="1806854"/>
            <a:ext cx="409651" cy="409651"/>
          </a:xfrm>
          <a:prstGeom prst="rect">
            <a:avLst/>
          </a:prstGeom>
        </p:spPr>
      </p:pic>
      <p:sp>
        <p:nvSpPr>
          <p:cNvPr id="17" name="a3: Problem Connectivity head"/>
          <p:cNvSpPr txBox="1"/>
          <p:nvPr/>
        </p:nvSpPr>
        <p:spPr>
          <a:xfrm>
            <a:off x="6455664" y="2560320"/>
            <a:ext cx="210312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Connectivity</a:t>
            </a:r>
            <a:endParaRPr lang="en-US" sz="2000" dirty="0"/>
          </a:p>
        </p:txBody>
      </p:sp>
      <p:sp>
        <p:nvSpPr>
          <p:cNvPr id="18" name="a3: Problem Connectivity body"/>
          <p:cNvSpPr txBox="1"/>
          <p:nvPr/>
        </p:nvSpPr>
        <p:spPr>
          <a:xfrm>
            <a:off x="6455664" y="3017520"/>
            <a:ext cx="210312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No network, no agent: cloud-only demos stop working offline.</a:t>
            </a:r>
            <a:endParaRPr lang="en-US" sz="1400" dirty="0"/>
          </a:p>
        </p:txBody>
      </p:sp>
      <p:sp>
        <p:nvSpPr>
          <p:cNvPr id="19" name="a4: Problem card Opacity"/>
          <p:cNvSpPr/>
          <p:nvPr/>
        </p:nvSpPr>
        <p:spPr>
          <a:xfrm>
            <a:off x="8997696" y="1371600"/>
            <a:ext cx="2606040" cy="2743200"/>
          </a:xfrm>
          <a:prstGeom prst="roundRect">
            <a:avLst>
              <a:gd name="adj" fmla="val 4211"/>
            </a:avLst>
          </a:prstGeom>
          <a:solidFill>
            <a:schemeClr val="bg2"/>
          </a:solidFill>
          <a:ln w="12700">
            <a:solidFill>
              <a:schemeClr val="accent6"/>
            </a:solidFill>
            <a:prstDash val="solid"/>
          </a:ln>
        </p:spPr>
      </p:sp>
      <p:sp>
        <p:nvSpPr>
          <p:cNvPr id="20" name="a4: Problem Opacity circle"/>
          <p:cNvSpPr/>
          <p:nvPr/>
        </p:nvSpPr>
        <p:spPr>
          <a:xfrm>
            <a:off x="9272016" y="1645920"/>
            <a:ext cx="731520" cy="731520"/>
          </a:xfrm>
          <a:prstGeom prst="ellipse">
            <a:avLst/>
          </a:prstGeom>
          <a:solidFill>
            <a:schemeClr val="bg1"/>
          </a:solidFill>
          <a:ln w="19050">
            <a:solidFill>
              <a:schemeClr val="accent4"/>
            </a:solidFill>
            <a:prstDash val="solid"/>
          </a:ln>
        </p:spPr>
      </p:sp>
      <p:pic>
        <p:nvPicPr>
          <p:cNvPr id="21" name="a4: Problem Opacity icon" descr="">    </p:cNvPr>
          <p:cNvPicPr>
            <a:picLocks noChangeAspect="1"/>
          </p:cNvPicPr>
          <p:nvPr/>
        </p:nvPicPr>
        <p:blipFill>
          <a:blip r:embed="rId10"/>
          <a:stretch>
            <a:fillRect/>
          </a:stretch>
        </p:blipFill>
        <p:spPr>
          <a:xfrm>
            <a:off x="9432950" y="1806854"/>
            <a:ext cx="409651" cy="409651"/>
          </a:xfrm>
          <a:prstGeom prst="rect">
            <a:avLst/>
          </a:prstGeom>
        </p:spPr>
      </p:pic>
      <p:sp>
        <p:nvSpPr>
          <p:cNvPr id="22" name="a4: Problem Opacity head"/>
          <p:cNvSpPr txBox="1"/>
          <p:nvPr/>
        </p:nvSpPr>
        <p:spPr>
          <a:xfrm>
            <a:off x="9272016" y="2560320"/>
            <a:ext cx="210312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Opacity</a:t>
            </a:r>
            <a:endParaRPr lang="en-US" sz="2000" dirty="0"/>
          </a:p>
        </p:txBody>
      </p:sp>
      <p:sp>
        <p:nvSpPr>
          <p:cNvPr id="23" name="a4: Problem Opacity body"/>
          <p:cNvSpPr txBox="1"/>
          <p:nvPr/>
        </p:nvSpPr>
        <p:spPr>
          <a:xfrm>
            <a:off x="9272016" y="3017520"/>
            <a:ext cx="210312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Frameworks hide the loop, so it is hard to see how agents work.</a:t>
            </a:r>
            <a:endParaRPr lang="en-US" sz="1400" dirty="0"/>
          </a:p>
        </p:txBody>
      </p:sp>
      <p:sp>
        <p:nvSpPr>
          <p:cNvPr id="24" name="a5: Opportunity card"/>
          <p:cNvSpPr/>
          <p:nvPr/>
        </p:nvSpPr>
        <p:spPr>
          <a:xfrm>
            <a:off x="548640" y="4434840"/>
            <a:ext cx="11064240" cy="1600200"/>
          </a:xfrm>
          <a:prstGeom prst="roundRect">
            <a:avLst>
              <a:gd name="adj" fmla="val 6857"/>
            </a:avLst>
          </a:prstGeom>
          <a:solidFill>
            <a:schemeClr val="bg2"/>
          </a:solidFill>
          <a:ln w="12700">
            <a:solidFill>
              <a:schemeClr val="accent1"/>
            </a:solidFill>
            <a:prstDash val="solid"/>
          </a:ln>
        </p:spPr>
      </p:sp>
      <p:sp>
        <p:nvSpPr>
          <p:cNvPr id="25" name="a5: Opportunity circle"/>
          <p:cNvSpPr/>
          <p:nvPr/>
        </p:nvSpPr>
        <p:spPr>
          <a:xfrm>
            <a:off x="868680" y="4818888"/>
            <a:ext cx="822960" cy="822960"/>
          </a:xfrm>
          <a:prstGeom prst="ellipse">
            <a:avLst/>
          </a:prstGeom>
          <a:solidFill>
            <a:schemeClr val="bg1"/>
          </a:solidFill>
          <a:ln w="19050">
            <a:solidFill>
              <a:schemeClr val="accent1"/>
            </a:solidFill>
            <a:prstDash val="solid"/>
          </a:ln>
        </p:spPr>
      </p:sp>
      <p:pic>
        <p:nvPicPr>
          <p:cNvPr id="26" name="a5: Opportunity icon" descr="">    </p:cNvPr>
          <p:cNvPicPr>
            <a:picLocks noChangeAspect="1"/>
          </p:cNvPicPr>
          <p:nvPr/>
        </p:nvPicPr>
        <p:blipFill>
          <a:blip r:embed="rId11"/>
          <a:stretch>
            <a:fillRect/>
          </a:stretch>
        </p:blipFill>
        <p:spPr>
          <a:xfrm>
            <a:off x="1049731" y="4999939"/>
            <a:ext cx="460858" cy="460858"/>
          </a:xfrm>
          <a:prstGeom prst="rect">
            <a:avLst/>
          </a:prstGeom>
        </p:spPr>
      </p:pic>
      <p:sp>
        <p:nvSpPr>
          <p:cNvPr id="27" name="a5: Opportunity text"/>
          <p:cNvSpPr txBox="1"/>
          <p:nvPr/>
        </p:nvSpPr>
        <p:spPr>
          <a:xfrm>
            <a:off x="1965960" y="4663440"/>
            <a:ext cx="9372600" cy="118872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Opportunity: </a:t>
            </a:r>
            <a:pPr indent="0" marL="0">
              <a:buNone/>
            </a:pPr>
            <a:r>
              <a:rPr lang="en-US" sz="1600" dirty="0">
                <a:solidFill>
                  <a:schemeClr val="tx1"/>
                </a:solidFill>
                <a:latin typeface="Calibri" pitchFamily="34" charset="0"/>
                <a:ea typeface="Calibri" pitchFamily="34" charset="-122"/>
                <a:cs typeface="Calibri" pitchFamily="34" charset="-120"/>
              </a:rPr>
              <a:t>small open-weight language models (about 1–4 billion parameters) now run on a laptop and support structured tool calling, so the whole agent can run, be inspected and be tested on one machine.</a:t>
            </a:r>
            <a:endParaRPr lang="en-US" sz="1600" dirty="0"/>
          </a:p>
        </p:txBody>
      </p:sp>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0"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36" fill="hold">
                            <p:stCondLst>
                              <p:cond delay="35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52" fill="hold">
                            <p:stCondLst>
                              <p:cond delay="7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par>
                          <p:cTn id="68" fill="hold">
                            <p:stCondLst>
                              <p:cond delay="105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81" fill="hold">
                            <p:stCondLst>
                              <p:cond delay="1400"/>
                            </p:stCondLst>
                            <p:childTnLst>
                              <p:par>
                                <p:cTn id="69" presetID="10"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Objectives and scope</a:t>
            </a:r>
            <a:endParaRPr lang="en-US" sz="3200" dirty="0"/>
          </a:p>
        </p:txBody>
      </p:sp>
      <p:sp>
        <p:nvSpPr>
          <p:cNvPr id="3" name="Section navigation"/>
          <p:cNvSpPr txBox="1"/>
          <p:nvPr/>
        </p:nvSpPr>
        <p:spPr>
          <a:xfrm>
            <a:off x="4206240" y="6400800"/>
            <a:ext cx="6766560" cy="274320"/>
          </a:xfrm>
          <a:prstGeom prst="rect">
            <a:avLst/>
          </a:prstGeom>
          <a:noFill/>
          <a:ln/>
        </p:spPr>
        <p:txBody>
          <a:bodyPr wrap="square" lIns="0" tIns="0" rIns="0" bIns="0" rtlCol="0" anchor="t"/>
          <a:lstStyle/>
          <a:p>
            <a:pPr algn="r" indent="0" marL="0">
              <a:buNone/>
            </a:pPr>
            <a:r>
              <a:rPr lang="en-US" sz="1000" u="sng" dirty="0">
                <a:solidFill>
                  <a:schemeClr val="tx2"/>
                </a:solidFill>
                <a:latin typeface="Calibri" pitchFamily="34" charset="0"/>
                <a:ea typeface="Calibri" pitchFamily="34" charset="-122"/>
                <a:cs typeface="Calibri" pitchFamily="34" charset="-120"/>
                <a:hlinkClick r:id="rId1" action="ppaction://hlinksldjump" tooltip="Go to Home">
                  <a:extLst>
                    <a:ext uri="{A12FA001-AC4F-418D-AE19-62706E023703}">
                      <ahyp:hlinkClr xmlns:ahyp="http://schemas.microsoft.com/office/drawing/2018/hyperlinkcolor" val="tx"/>
                    </a:ext>
                  </a:extLst>
                </a:hlinkClick>
              </a:rPr>
              <a:t>Home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2" action="ppaction://hlinksldjump" tooltip="Go to Architecture">
                  <a:extLst>
                    <a:ext uri="{A12FA001-AC4F-418D-AE19-62706E023703}">
                      <ahyp:hlinkClr xmlns:ahyp="http://schemas.microsoft.com/office/drawing/2018/hyperlinkcolor" val="tx"/>
                    </a:ext>
                  </a:extLst>
                </a:hlinkClick>
              </a:rPr>
              <a:t>Architecture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3" action="ppaction://hlinksldjump" tooltip="Go to Pipeline">
                  <a:extLst>
                    <a:ext uri="{A12FA001-AC4F-418D-AE19-62706E023703}">
                      <ahyp:hlinkClr xmlns:ahyp="http://schemas.microsoft.com/office/drawing/2018/hyperlinkcolor" val="tx"/>
                    </a:ext>
                  </a:extLst>
                </a:hlinkClick>
              </a:rPr>
              <a:t>Pipeline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4" action="ppaction://hlinksldjump" tooltip="Go to Security">
                  <a:extLst>
                    <a:ext uri="{A12FA001-AC4F-418D-AE19-62706E023703}">
                      <ahyp:hlinkClr xmlns:ahyp="http://schemas.microsoft.com/office/drawing/2018/hyperlinkcolor" val="tx"/>
                    </a:ext>
                  </a:extLst>
                </a:hlinkClick>
              </a:rPr>
              <a:t>Security</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5" action="ppaction://hlinksldjump" tooltip="Go to Results">
                  <a:extLst>
                    <a:ext uri="{A12FA001-AC4F-418D-AE19-62706E023703}">
                      <ahyp:hlinkClr xmlns:ahyp="http://schemas.microsoft.com/office/drawing/2018/hyperlinkcolor" val="tx"/>
                    </a:ext>
                  </a:extLst>
                </a:hlinkClick>
              </a:rPr>
              <a:t>Results</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6" action="ppaction://hlinksldjump" tooltip="Go to Contact">
                  <a:extLst>
                    <a:ext uri="{A12FA001-AC4F-418D-AE19-62706E023703}">
                      <ahyp:hlinkClr xmlns:ahyp="http://schemas.microsoft.com/office/drawing/2018/hyperlinkcolor" val="tx"/>
                    </a:ext>
                  </a:extLst>
                </a:hlinkClick>
              </a:rPr>
              <a:t>Contact</a:t>
            </a:r>
            <a:endParaRPr lang="en-US" sz="1000" dirty="0"/>
          </a:p>
        </p:txBody>
      </p:sp>
      <p:sp>
        <p:nvSpPr>
          <p:cNvPr id="4" name="a1: Objective 1"/>
          <p:cNvSpPr/>
          <p:nvPr/>
        </p:nvSpPr>
        <p:spPr>
          <a:xfrm>
            <a:off x="548640" y="1371600"/>
            <a:ext cx="3657600" cy="1371600"/>
          </a:xfrm>
          <a:prstGeom prst="roundRect">
            <a:avLst>
              <a:gd name="adj" fmla="val 8000"/>
            </a:avLst>
          </a:prstGeom>
          <a:solidFill>
            <a:schemeClr val="bg2"/>
          </a:solidFill>
          <a:ln w="12700">
            <a:solidFill>
              <a:schemeClr val="accent6"/>
            </a:solidFill>
            <a:prstDash val="solid"/>
          </a:ln>
        </p:spPr>
      </p:sp>
      <p:sp>
        <p:nvSpPr>
          <p:cNvPr id="5" name="a1: Objective 1 circle"/>
          <p:cNvSpPr/>
          <p:nvPr/>
        </p:nvSpPr>
        <p:spPr>
          <a:xfrm>
            <a:off x="777240" y="1673352"/>
            <a:ext cx="731520" cy="731520"/>
          </a:xfrm>
          <a:prstGeom prst="ellipse">
            <a:avLst/>
          </a:prstGeom>
          <a:solidFill>
            <a:schemeClr val="bg1"/>
          </a:solidFill>
          <a:ln w="19050">
            <a:solidFill>
              <a:schemeClr val="accent1"/>
            </a:solidFill>
            <a:prstDash val="solid"/>
          </a:ln>
        </p:spPr>
      </p:sp>
      <p:pic>
        <p:nvPicPr>
          <p:cNvPr id="6" name="a1: Objective 1 icon" descr="">    </p:cNvPr>
          <p:cNvPicPr>
            <a:picLocks noChangeAspect="1"/>
          </p:cNvPicPr>
          <p:nvPr/>
        </p:nvPicPr>
        <p:blipFill>
          <a:blip r:embed="rId7"/>
          <a:stretch>
            <a:fillRect/>
          </a:stretch>
        </p:blipFill>
        <p:spPr>
          <a:xfrm>
            <a:off x="938174" y="1834286"/>
            <a:ext cx="409651" cy="409651"/>
          </a:xfrm>
          <a:prstGeom prst="rect">
            <a:avLst/>
          </a:prstGeom>
        </p:spPr>
      </p:pic>
      <p:sp>
        <p:nvSpPr>
          <p:cNvPr id="7" name="a1: Objective 1 head"/>
          <p:cNvSpPr txBox="1"/>
          <p:nvPr/>
        </p:nvSpPr>
        <p:spPr>
          <a:xfrm>
            <a:off x="1691640" y="1600200"/>
            <a:ext cx="2377440" cy="41148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O1  Local inference only</a:t>
            </a:r>
            <a:endParaRPr lang="en-US" sz="1600" dirty="0"/>
          </a:p>
        </p:txBody>
      </p:sp>
      <p:sp>
        <p:nvSpPr>
          <p:cNvPr id="8" name="a1: Objective 1 body"/>
          <p:cNvSpPr txBox="1"/>
          <p:nvPr/>
        </p:nvSpPr>
        <p:spPr>
          <a:xfrm>
            <a:off x="1691640" y="2029968"/>
            <a:ext cx="237744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No paid API, no cloud fallback.</a:t>
            </a:r>
            <a:endParaRPr lang="en-US" sz="1400" dirty="0"/>
          </a:p>
        </p:txBody>
      </p:sp>
      <p:sp>
        <p:nvSpPr>
          <p:cNvPr id="9" name="a1: Objective 2"/>
          <p:cNvSpPr/>
          <p:nvPr/>
        </p:nvSpPr>
        <p:spPr>
          <a:xfrm>
            <a:off x="4434840" y="1371600"/>
            <a:ext cx="3657600" cy="1371600"/>
          </a:xfrm>
          <a:prstGeom prst="roundRect">
            <a:avLst>
              <a:gd name="adj" fmla="val 8000"/>
            </a:avLst>
          </a:prstGeom>
          <a:solidFill>
            <a:schemeClr val="bg2"/>
          </a:solidFill>
          <a:ln w="12700">
            <a:solidFill>
              <a:schemeClr val="accent6"/>
            </a:solidFill>
            <a:prstDash val="solid"/>
          </a:ln>
        </p:spPr>
      </p:sp>
      <p:sp>
        <p:nvSpPr>
          <p:cNvPr id="10" name="a1: Objective 2 circle"/>
          <p:cNvSpPr/>
          <p:nvPr/>
        </p:nvSpPr>
        <p:spPr>
          <a:xfrm>
            <a:off x="4663440" y="1673352"/>
            <a:ext cx="731520" cy="731520"/>
          </a:xfrm>
          <a:prstGeom prst="ellipse">
            <a:avLst/>
          </a:prstGeom>
          <a:solidFill>
            <a:schemeClr val="bg1"/>
          </a:solidFill>
          <a:ln w="19050">
            <a:solidFill>
              <a:schemeClr val="accent1"/>
            </a:solidFill>
            <a:prstDash val="solid"/>
          </a:ln>
        </p:spPr>
      </p:sp>
      <p:pic>
        <p:nvPicPr>
          <p:cNvPr id="11" name="a1: Objective 2 icon" descr="">    </p:cNvPr>
          <p:cNvPicPr>
            <a:picLocks noChangeAspect="1"/>
          </p:cNvPicPr>
          <p:nvPr/>
        </p:nvPicPr>
        <p:blipFill>
          <a:blip r:embed="rId8"/>
          <a:stretch>
            <a:fillRect/>
          </a:stretch>
        </p:blipFill>
        <p:spPr>
          <a:xfrm>
            <a:off x="4824374" y="1834286"/>
            <a:ext cx="409651" cy="409651"/>
          </a:xfrm>
          <a:prstGeom prst="rect">
            <a:avLst/>
          </a:prstGeom>
        </p:spPr>
      </p:pic>
      <p:sp>
        <p:nvSpPr>
          <p:cNvPr id="12" name="a1: Objective 2 head"/>
          <p:cNvSpPr txBox="1"/>
          <p:nvPr/>
        </p:nvSpPr>
        <p:spPr>
          <a:xfrm>
            <a:off x="5577840" y="1600200"/>
            <a:ext cx="2377440" cy="41148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O2  Safe tool execution</a:t>
            </a:r>
            <a:endParaRPr lang="en-US" sz="1600" dirty="0"/>
          </a:p>
        </p:txBody>
      </p:sp>
      <p:sp>
        <p:nvSpPr>
          <p:cNvPr id="13" name="a1: Objective 2 body"/>
          <p:cNvSpPr txBox="1"/>
          <p:nvPr/>
        </p:nvSpPr>
        <p:spPr>
          <a:xfrm>
            <a:off x="5577840" y="2029968"/>
            <a:ext cx="237744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Model proposes; validated, allow-listed code executes.</a:t>
            </a:r>
            <a:endParaRPr lang="en-US" sz="1400" dirty="0"/>
          </a:p>
        </p:txBody>
      </p:sp>
      <p:sp>
        <p:nvSpPr>
          <p:cNvPr id="14" name="a2: Objective 3"/>
          <p:cNvSpPr/>
          <p:nvPr/>
        </p:nvSpPr>
        <p:spPr>
          <a:xfrm>
            <a:off x="548640" y="2926080"/>
            <a:ext cx="3657600" cy="1371600"/>
          </a:xfrm>
          <a:prstGeom prst="roundRect">
            <a:avLst>
              <a:gd name="adj" fmla="val 8000"/>
            </a:avLst>
          </a:prstGeom>
          <a:solidFill>
            <a:schemeClr val="bg2"/>
          </a:solidFill>
          <a:ln w="12700">
            <a:solidFill>
              <a:schemeClr val="accent6"/>
            </a:solidFill>
            <a:prstDash val="solid"/>
          </a:ln>
        </p:spPr>
      </p:sp>
      <p:sp>
        <p:nvSpPr>
          <p:cNvPr id="15" name="a2: Objective 3 circle"/>
          <p:cNvSpPr/>
          <p:nvPr/>
        </p:nvSpPr>
        <p:spPr>
          <a:xfrm>
            <a:off x="777240" y="3227832"/>
            <a:ext cx="731520" cy="731520"/>
          </a:xfrm>
          <a:prstGeom prst="ellipse">
            <a:avLst/>
          </a:prstGeom>
          <a:solidFill>
            <a:schemeClr val="bg1"/>
          </a:solidFill>
          <a:ln w="19050">
            <a:solidFill>
              <a:schemeClr val="accent1"/>
            </a:solidFill>
            <a:prstDash val="solid"/>
          </a:ln>
        </p:spPr>
      </p:sp>
      <p:pic>
        <p:nvPicPr>
          <p:cNvPr id="16" name="a2: Objective 3 icon" descr="">    </p:cNvPr>
          <p:cNvPicPr>
            <a:picLocks noChangeAspect="1"/>
          </p:cNvPicPr>
          <p:nvPr/>
        </p:nvPicPr>
        <p:blipFill>
          <a:blip r:embed="rId9"/>
          <a:stretch>
            <a:fillRect/>
          </a:stretch>
        </p:blipFill>
        <p:spPr>
          <a:xfrm>
            <a:off x="938174" y="3388766"/>
            <a:ext cx="409651" cy="409651"/>
          </a:xfrm>
          <a:prstGeom prst="rect">
            <a:avLst/>
          </a:prstGeom>
        </p:spPr>
      </p:pic>
      <p:sp>
        <p:nvSpPr>
          <p:cNvPr id="17" name="a2: Objective 3 head"/>
          <p:cNvSpPr txBox="1"/>
          <p:nvPr/>
        </p:nvSpPr>
        <p:spPr>
          <a:xfrm>
            <a:off x="1691640" y="3154680"/>
            <a:ext cx="2377440" cy="41148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O3  Bounded execution</a:t>
            </a:r>
            <a:endParaRPr lang="en-US" sz="1600" dirty="0"/>
          </a:p>
        </p:txBody>
      </p:sp>
      <p:sp>
        <p:nvSpPr>
          <p:cNvPr id="18" name="a2: Objective 3 body"/>
          <p:cNvSpPr txBox="1"/>
          <p:nvPr/>
        </p:nvSpPr>
        <p:spPr>
          <a:xfrm>
            <a:off x="1691640" y="3584448"/>
            <a:ext cx="237744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Iteration, repeat and size limits.</a:t>
            </a:r>
            <a:endParaRPr lang="en-US" sz="1400" dirty="0"/>
          </a:p>
        </p:txBody>
      </p:sp>
      <p:sp>
        <p:nvSpPr>
          <p:cNvPr id="19" name="a2: Objective 4"/>
          <p:cNvSpPr/>
          <p:nvPr/>
        </p:nvSpPr>
        <p:spPr>
          <a:xfrm>
            <a:off x="4434840" y="2926080"/>
            <a:ext cx="3657600" cy="1371600"/>
          </a:xfrm>
          <a:prstGeom prst="roundRect">
            <a:avLst>
              <a:gd name="adj" fmla="val 8000"/>
            </a:avLst>
          </a:prstGeom>
          <a:solidFill>
            <a:schemeClr val="bg2"/>
          </a:solidFill>
          <a:ln w="12700">
            <a:solidFill>
              <a:schemeClr val="accent6"/>
            </a:solidFill>
            <a:prstDash val="solid"/>
          </a:ln>
        </p:spPr>
      </p:sp>
      <p:sp>
        <p:nvSpPr>
          <p:cNvPr id="20" name="a2: Objective 4 circle"/>
          <p:cNvSpPr/>
          <p:nvPr/>
        </p:nvSpPr>
        <p:spPr>
          <a:xfrm>
            <a:off x="4663440" y="3227832"/>
            <a:ext cx="731520" cy="731520"/>
          </a:xfrm>
          <a:prstGeom prst="ellipse">
            <a:avLst/>
          </a:prstGeom>
          <a:solidFill>
            <a:schemeClr val="bg1"/>
          </a:solidFill>
          <a:ln w="19050">
            <a:solidFill>
              <a:schemeClr val="accent1"/>
            </a:solidFill>
            <a:prstDash val="solid"/>
          </a:ln>
        </p:spPr>
      </p:sp>
      <p:pic>
        <p:nvPicPr>
          <p:cNvPr id="21" name="a2: Objective 4 icon" descr="">    </p:cNvPr>
          <p:cNvPicPr>
            <a:picLocks noChangeAspect="1"/>
          </p:cNvPicPr>
          <p:nvPr/>
        </p:nvPicPr>
        <p:blipFill>
          <a:blip r:embed="rId10"/>
          <a:stretch>
            <a:fillRect/>
          </a:stretch>
        </p:blipFill>
        <p:spPr>
          <a:xfrm>
            <a:off x="4824374" y="3388766"/>
            <a:ext cx="409651" cy="409651"/>
          </a:xfrm>
          <a:prstGeom prst="rect">
            <a:avLst/>
          </a:prstGeom>
        </p:spPr>
      </p:pic>
      <p:sp>
        <p:nvSpPr>
          <p:cNvPr id="22" name="a2: Objective 4 head"/>
          <p:cNvSpPr txBox="1"/>
          <p:nvPr/>
        </p:nvSpPr>
        <p:spPr>
          <a:xfrm>
            <a:off x="5577840" y="3154680"/>
            <a:ext cx="2377440" cy="41148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O4  Explicit failures</a:t>
            </a:r>
            <a:endParaRPr lang="en-US" sz="1600" dirty="0"/>
          </a:p>
        </p:txBody>
      </p:sp>
      <p:sp>
        <p:nvSpPr>
          <p:cNvPr id="23" name="a2: Objective 4 body"/>
          <p:cNvSpPr txBox="1"/>
          <p:nvPr/>
        </p:nvSpPr>
        <p:spPr>
          <a:xfrm>
            <a:off x="5577840" y="3584448"/>
            <a:ext cx="237744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Service down, missing model, timeouts, storage errors.</a:t>
            </a:r>
            <a:endParaRPr lang="en-US" sz="1400" dirty="0"/>
          </a:p>
        </p:txBody>
      </p:sp>
      <p:sp>
        <p:nvSpPr>
          <p:cNvPr id="24" name="a3: Objective 5"/>
          <p:cNvSpPr/>
          <p:nvPr/>
        </p:nvSpPr>
        <p:spPr>
          <a:xfrm>
            <a:off x="548640" y="4480560"/>
            <a:ext cx="3657600" cy="1371600"/>
          </a:xfrm>
          <a:prstGeom prst="roundRect">
            <a:avLst>
              <a:gd name="adj" fmla="val 8000"/>
            </a:avLst>
          </a:prstGeom>
          <a:solidFill>
            <a:schemeClr val="bg2"/>
          </a:solidFill>
          <a:ln w="12700">
            <a:solidFill>
              <a:schemeClr val="accent6"/>
            </a:solidFill>
            <a:prstDash val="solid"/>
          </a:ln>
        </p:spPr>
      </p:sp>
      <p:sp>
        <p:nvSpPr>
          <p:cNvPr id="25" name="a3: Objective 5 circle"/>
          <p:cNvSpPr/>
          <p:nvPr/>
        </p:nvSpPr>
        <p:spPr>
          <a:xfrm>
            <a:off x="777240" y="4782312"/>
            <a:ext cx="731520" cy="731520"/>
          </a:xfrm>
          <a:prstGeom prst="ellipse">
            <a:avLst/>
          </a:prstGeom>
          <a:solidFill>
            <a:schemeClr val="bg1"/>
          </a:solidFill>
          <a:ln w="19050">
            <a:solidFill>
              <a:schemeClr val="accent1"/>
            </a:solidFill>
            <a:prstDash val="solid"/>
          </a:ln>
        </p:spPr>
      </p:sp>
      <p:pic>
        <p:nvPicPr>
          <p:cNvPr id="26" name="a3: Objective 5 icon" descr="">    </p:cNvPr>
          <p:cNvPicPr>
            <a:picLocks noChangeAspect="1"/>
          </p:cNvPicPr>
          <p:nvPr/>
        </p:nvPicPr>
        <p:blipFill>
          <a:blip r:embed="rId11"/>
          <a:stretch>
            <a:fillRect/>
          </a:stretch>
        </p:blipFill>
        <p:spPr>
          <a:xfrm>
            <a:off x="938174" y="4943246"/>
            <a:ext cx="409651" cy="409651"/>
          </a:xfrm>
          <a:prstGeom prst="rect">
            <a:avLst/>
          </a:prstGeom>
        </p:spPr>
      </p:pic>
      <p:sp>
        <p:nvSpPr>
          <p:cNvPr id="27" name="a3: Objective 5 head"/>
          <p:cNvSpPr txBox="1"/>
          <p:nvPr/>
        </p:nvSpPr>
        <p:spPr>
          <a:xfrm>
            <a:off x="1691640" y="4709160"/>
            <a:ext cx="2377440" cy="41148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O5  Usable interfaces</a:t>
            </a:r>
            <a:endParaRPr lang="en-US" sz="1600" dirty="0"/>
          </a:p>
        </p:txBody>
      </p:sp>
      <p:sp>
        <p:nvSpPr>
          <p:cNvPr id="28" name="a3: Objective 5 body"/>
          <p:cNvSpPr txBox="1"/>
          <p:nvPr/>
        </p:nvSpPr>
        <p:spPr>
          <a:xfrm>
            <a:off x="1691640" y="5138928"/>
            <a:ext cx="237744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Terminal and local web UI with tool traces.</a:t>
            </a:r>
            <a:endParaRPr lang="en-US" sz="1400" dirty="0"/>
          </a:p>
        </p:txBody>
      </p:sp>
      <p:sp>
        <p:nvSpPr>
          <p:cNvPr id="29" name="a3: Objective 6"/>
          <p:cNvSpPr/>
          <p:nvPr/>
        </p:nvSpPr>
        <p:spPr>
          <a:xfrm>
            <a:off x="4434840" y="4480560"/>
            <a:ext cx="3657600" cy="1371600"/>
          </a:xfrm>
          <a:prstGeom prst="roundRect">
            <a:avLst>
              <a:gd name="adj" fmla="val 8000"/>
            </a:avLst>
          </a:prstGeom>
          <a:solidFill>
            <a:schemeClr val="bg2"/>
          </a:solidFill>
          <a:ln w="12700">
            <a:solidFill>
              <a:schemeClr val="accent6"/>
            </a:solidFill>
            <a:prstDash val="solid"/>
          </a:ln>
        </p:spPr>
      </p:sp>
      <p:sp>
        <p:nvSpPr>
          <p:cNvPr id="30" name="a3: Objective 6 circle"/>
          <p:cNvSpPr/>
          <p:nvPr/>
        </p:nvSpPr>
        <p:spPr>
          <a:xfrm>
            <a:off x="4663440" y="4782312"/>
            <a:ext cx="731520" cy="731520"/>
          </a:xfrm>
          <a:prstGeom prst="ellipse">
            <a:avLst/>
          </a:prstGeom>
          <a:solidFill>
            <a:schemeClr val="bg1"/>
          </a:solidFill>
          <a:ln w="19050">
            <a:solidFill>
              <a:schemeClr val="accent1"/>
            </a:solidFill>
            <a:prstDash val="solid"/>
          </a:ln>
        </p:spPr>
      </p:sp>
      <p:pic>
        <p:nvPicPr>
          <p:cNvPr id="31" name="a3: Objective 6 icon" descr="">    </p:cNvPr>
          <p:cNvPicPr>
            <a:picLocks noChangeAspect="1"/>
          </p:cNvPicPr>
          <p:nvPr/>
        </p:nvPicPr>
        <p:blipFill>
          <a:blip r:embed="rId12"/>
          <a:stretch>
            <a:fillRect/>
          </a:stretch>
        </p:blipFill>
        <p:spPr>
          <a:xfrm>
            <a:off x="4824374" y="4943246"/>
            <a:ext cx="409651" cy="409651"/>
          </a:xfrm>
          <a:prstGeom prst="rect">
            <a:avLst/>
          </a:prstGeom>
        </p:spPr>
      </p:pic>
      <p:sp>
        <p:nvSpPr>
          <p:cNvPr id="32" name="a3: Objective 6 head"/>
          <p:cNvSpPr txBox="1"/>
          <p:nvPr/>
        </p:nvSpPr>
        <p:spPr>
          <a:xfrm>
            <a:off x="5577840" y="4709160"/>
            <a:ext cx="2377440" cy="41148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O6  Evidence</a:t>
            </a:r>
            <a:endParaRPr lang="en-US" sz="1600" dirty="0"/>
          </a:p>
        </p:txBody>
      </p:sp>
      <p:sp>
        <p:nvSpPr>
          <p:cNvPr id="33" name="a3: Objective 6 body"/>
          <p:cNvSpPr txBox="1"/>
          <p:nvPr/>
        </p:nvSpPr>
        <p:spPr>
          <a:xfrm>
            <a:off x="5577840" y="5138928"/>
            <a:ext cx="237744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Tests without a model; docs match the code.</a:t>
            </a:r>
            <a:endParaRPr lang="en-US" sz="1400" dirty="0"/>
          </a:p>
        </p:txBody>
      </p:sp>
      <p:sp>
        <p:nvSpPr>
          <p:cNvPr id="34" name="a4: Scope card"/>
          <p:cNvSpPr/>
          <p:nvPr/>
        </p:nvSpPr>
        <p:spPr>
          <a:xfrm>
            <a:off x="8412480" y="1371600"/>
            <a:ext cx="3200400" cy="4480560"/>
          </a:xfrm>
          <a:prstGeom prst="roundRect">
            <a:avLst>
              <a:gd name="adj" fmla="val 3429"/>
            </a:avLst>
          </a:prstGeom>
          <a:solidFill>
            <a:schemeClr val="bg2"/>
          </a:solidFill>
          <a:ln w="12700">
            <a:solidFill>
              <a:schemeClr val="accent5"/>
            </a:solidFill>
            <a:prstDash val="solid"/>
          </a:ln>
        </p:spPr>
      </p:sp>
      <p:sp>
        <p:nvSpPr>
          <p:cNvPr id="35" name="a4: Scope head"/>
          <p:cNvSpPr txBox="1"/>
          <p:nvPr/>
        </p:nvSpPr>
        <p:spPr>
          <a:xfrm>
            <a:off x="8686800" y="1600200"/>
            <a:ext cx="2743200" cy="411480"/>
          </a:xfrm>
          <a:prstGeom prst="rect">
            <a:avLst/>
          </a:prstGeom>
          <a:noFill/>
          <a:ln/>
        </p:spPr>
        <p:txBody>
          <a:bodyPr wrap="square" lIns="0" tIns="0" rIns="0" bIns="0" rtlCol="0" anchor="t"/>
          <a:lstStyle/>
          <a:p>
            <a:pPr indent="0" marL="0">
              <a:buNone/>
            </a:pPr>
            <a:r>
              <a:rPr lang="en-US" sz="1800" b="1" dirty="0">
                <a:solidFill>
                  <a:schemeClr val="accent5"/>
                </a:solidFill>
                <a:latin typeface="Calibri" pitchFamily="34" charset="0"/>
                <a:ea typeface="Calibri" pitchFamily="34" charset="-122"/>
                <a:cs typeface="Calibri" pitchFamily="34" charset="-120"/>
              </a:rPr>
              <a:t>Out of scope</a:t>
            </a:r>
            <a:endParaRPr lang="en-US" sz="1800" dirty="0"/>
          </a:p>
        </p:txBody>
      </p:sp>
      <p:sp>
        <p:nvSpPr>
          <p:cNvPr id="36" name="a4: Scope list"/>
          <p:cNvSpPr txBox="1"/>
          <p:nvPr/>
        </p:nvSpPr>
        <p:spPr>
          <a:xfrm>
            <a:off x="8686800" y="2103120"/>
            <a:ext cx="274320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Training or fine-tuning models</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Multi-user or cloud deployment</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Document retrieval beyond notes</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Model benchmarks (future work)</a:t>
            </a:r>
            <a:endParaRPr lang="en-US" sz="1400" dirty="0"/>
          </a:p>
        </p:txBody>
      </p:sp>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5"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par>
                          <p:cTn id="66" fill="hold">
                            <p:stCondLst>
                              <p:cond delay="350"/>
                            </p:stCondLst>
                            <p:childTnLst>
                              <p:par>
                                <p:cTn id="36" presetID="10" presetClass="entr" presetSubtype="0"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childTnLst>
                          </p:cTn>
                        </p:par>
                        <p:par>
                          <p:cTn id="97" fill="hold">
                            <p:stCondLst>
                              <p:cond delay="700"/>
                            </p:stCondLst>
                            <p:childTnLst>
                              <p:par>
                                <p:cTn id="67" presetID="10" presetClass="entr" presetSubtype="0" fill="hold" grpId="0" nodeType="after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childTnLst>
                          </p:cTn>
                        </p:par>
                        <p:par>
                          <p:cTn id="107" fill="hold">
                            <p:stCondLst>
                              <p:cond delay="1050"/>
                            </p:stCondLst>
                            <p:childTnLst>
                              <p:par>
                                <p:cTn id="98" presetID="10" presetClass="entr" presetSubtype="0" fill="hold" grpId="0" nodeType="after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500"/>
                                        <p:tgtEl>
                                          <p:spTgt spid="3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500"/>
                                        <p:tgtEl>
                                          <p:spTgt spid="3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System overview and architecture</a:t>
            </a:r>
            <a:endParaRPr lang="en-US" sz="3200" dirty="0"/>
          </a:p>
        </p:txBody>
      </p:sp>
      <p:sp>
        <p:nvSpPr>
          <p:cNvPr id="3" name="Section navigation"/>
          <p:cNvSpPr txBox="1"/>
          <p:nvPr/>
        </p:nvSpPr>
        <p:spPr>
          <a:xfrm>
            <a:off x="4206240" y="6400800"/>
            <a:ext cx="6766560" cy="274320"/>
          </a:xfrm>
          <a:prstGeom prst="rect">
            <a:avLst/>
          </a:prstGeom>
          <a:noFill/>
          <a:ln/>
        </p:spPr>
        <p:txBody>
          <a:bodyPr wrap="square" lIns="0" tIns="0" rIns="0" bIns="0" rtlCol="0" anchor="t"/>
          <a:lstStyle/>
          <a:p>
            <a:pPr algn="r" indent="0" marL="0">
              <a:buNone/>
            </a:pPr>
            <a:r>
              <a:rPr lang="en-US" sz="1000" u="sng" dirty="0">
                <a:solidFill>
                  <a:schemeClr val="tx2"/>
                </a:solidFill>
                <a:latin typeface="Calibri" pitchFamily="34" charset="0"/>
                <a:ea typeface="Calibri" pitchFamily="34" charset="-122"/>
                <a:cs typeface="Calibri" pitchFamily="34" charset="-120"/>
                <a:hlinkClick r:id="rId1" action="ppaction://hlinksldjump" tooltip="Go to Home">
                  <a:extLst>
                    <a:ext uri="{A12FA001-AC4F-418D-AE19-62706E023703}">
                      <ahyp:hlinkClr xmlns:ahyp="http://schemas.microsoft.com/office/drawing/2018/hyperlinkcolor" val="tx"/>
                    </a:ext>
                  </a:extLst>
                </a:hlinkClick>
              </a:rPr>
              <a:t>Home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b="1" dirty="0">
                <a:solidFill>
                  <a:schemeClr val="accent1"/>
                </a:solidFill>
                <a:latin typeface="Calibri" pitchFamily="34" charset="0"/>
                <a:ea typeface="Calibri" pitchFamily="34" charset="-122"/>
                <a:cs typeface="Calibri" pitchFamily="34" charset="-120"/>
              </a:rPr>
              <a:t>Architecture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2" action="ppaction://hlinksldjump" tooltip="Go to Pipeline">
                  <a:extLst>
                    <a:ext uri="{A12FA001-AC4F-418D-AE19-62706E023703}">
                      <ahyp:hlinkClr xmlns:ahyp="http://schemas.microsoft.com/office/drawing/2018/hyperlinkcolor" val="tx"/>
                    </a:ext>
                  </a:extLst>
                </a:hlinkClick>
              </a:rPr>
              <a:t>Pipeline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3" action="ppaction://hlinksldjump" tooltip="Go to Security">
                  <a:extLst>
                    <a:ext uri="{A12FA001-AC4F-418D-AE19-62706E023703}">
                      <ahyp:hlinkClr xmlns:ahyp="http://schemas.microsoft.com/office/drawing/2018/hyperlinkcolor" val="tx"/>
                    </a:ext>
                  </a:extLst>
                </a:hlinkClick>
              </a:rPr>
              <a:t>Security</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4" action="ppaction://hlinksldjump" tooltip="Go to Results">
                  <a:extLst>
                    <a:ext uri="{A12FA001-AC4F-418D-AE19-62706E023703}">
                      <ahyp:hlinkClr xmlns:ahyp="http://schemas.microsoft.com/office/drawing/2018/hyperlinkcolor" val="tx"/>
                    </a:ext>
                  </a:extLst>
                </a:hlinkClick>
              </a:rPr>
              <a:t>Results</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5" action="ppaction://hlinksldjump" tooltip="Go to Contact">
                  <a:extLst>
                    <a:ext uri="{A12FA001-AC4F-418D-AE19-62706E023703}">
                      <ahyp:hlinkClr xmlns:ahyp="http://schemas.microsoft.com/office/drawing/2018/hyperlinkcolor" val="tx"/>
                    </a:ext>
                  </a:extLst>
                </a:hlinkClick>
              </a:rPr>
              <a:t>Contact</a:t>
            </a:r>
            <a:endParaRPr lang="en-US" sz="1000" dirty="0"/>
          </a:p>
        </p:txBody>
      </p:sp>
      <p:sp>
        <p:nvSpPr>
          <p:cNvPr id="4" name="a1: User box"/>
          <p:cNvSpPr/>
          <p:nvPr/>
        </p:nvSpPr>
        <p:spPr>
          <a:xfrm>
            <a:off x="548640" y="1554480"/>
            <a:ext cx="2011680" cy="822960"/>
          </a:xfrm>
          <a:prstGeom prst="roundRect">
            <a:avLst>
              <a:gd name="adj" fmla="val 11111"/>
            </a:avLst>
          </a:prstGeom>
          <a:solidFill>
            <a:schemeClr val="bg2"/>
          </a:solidFill>
          <a:ln w="22225">
            <a:solidFill>
              <a:schemeClr val="tx2"/>
            </a:solidFill>
            <a:prstDash val="solid"/>
          </a:ln>
        </p:spPr>
      </p:sp>
      <p:sp>
        <p:nvSpPr>
          <p:cNvPr id="5" name="a1: User box label"/>
          <p:cNvSpPr txBox="1"/>
          <p:nvPr/>
        </p:nvSpPr>
        <p:spPr>
          <a:xfrm>
            <a:off x="548640" y="1554480"/>
            <a:ext cx="2011680" cy="822960"/>
          </a:xfrm>
          <a:prstGeom prst="rect">
            <a:avLst/>
          </a:prstGeom>
          <a:noFill/>
          <a:ln/>
        </p:spPr>
        <p:txBody>
          <a:bodyPr wrap="square" lIns="635" tIns="635" rIns="635" bIns="635"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User</a:t>
            </a:r>
            <a:endParaRPr lang="en-US" sz="1500" dirty="0"/>
          </a:p>
          <a:p>
            <a:pPr algn="ctr" indent="0" marL="0">
              <a:buNone/>
            </a:pPr>
            <a:r>
              <a:rPr lang="en-US" sz="1200" dirty="0">
                <a:solidFill>
                  <a:schemeClr val="tx2"/>
                </a:solidFill>
                <a:latin typeface="Calibri" pitchFamily="34" charset="0"/>
                <a:ea typeface="Calibri" pitchFamily="34" charset="-122"/>
                <a:cs typeface="Calibri" pitchFamily="34" charset="-120"/>
              </a:rPr>
              <a:t>types a request</a:t>
            </a:r>
            <a:endParaRPr lang="en-US" sz="1500" dirty="0"/>
          </a:p>
        </p:txBody>
      </p:sp>
      <p:sp>
        <p:nvSpPr>
          <p:cNvPr id="6" name="a2: Arrow user cli"/>
          <p:cNvSpPr/>
          <p:nvPr/>
        </p:nvSpPr>
        <p:spPr>
          <a:xfrm>
            <a:off x="2560320" y="1783080"/>
            <a:ext cx="548640" cy="0"/>
          </a:xfrm>
          <a:prstGeom prst="line">
            <a:avLst/>
          </a:prstGeom>
          <a:noFill/>
          <a:ln w="19050">
            <a:solidFill>
              <a:srgbClr val="98A2B3"/>
            </a:solidFill>
            <a:prstDash val="solid"/>
            <a:tailEnd type="triangle"/>
          </a:ln>
        </p:spPr>
      </p:sp>
      <p:sp>
        <p:nvSpPr>
          <p:cNvPr id="7" name="a2: Arrow user web"/>
          <p:cNvSpPr/>
          <p:nvPr/>
        </p:nvSpPr>
        <p:spPr>
          <a:xfrm>
            <a:off x="2560320" y="2148840"/>
            <a:ext cx="548640" cy="320040"/>
          </a:xfrm>
          <a:prstGeom prst="line">
            <a:avLst/>
          </a:prstGeom>
          <a:noFill/>
          <a:ln w="19050">
            <a:solidFill>
              <a:srgbClr val="98A2B3"/>
            </a:solidFill>
            <a:prstDash val="solid"/>
            <a:tailEnd type="triangle"/>
          </a:ln>
        </p:spPr>
      </p:sp>
      <p:sp>
        <p:nvSpPr>
          <p:cNvPr id="8" name="a2: CLI box"/>
          <p:cNvSpPr/>
          <p:nvPr/>
        </p:nvSpPr>
        <p:spPr>
          <a:xfrm>
            <a:off x="3108960" y="1234440"/>
            <a:ext cx="2286000" cy="731520"/>
          </a:xfrm>
          <a:prstGeom prst="roundRect">
            <a:avLst>
              <a:gd name="adj" fmla="val 12500"/>
            </a:avLst>
          </a:prstGeom>
          <a:solidFill>
            <a:schemeClr val="bg2"/>
          </a:solidFill>
          <a:ln w="22225">
            <a:solidFill>
              <a:schemeClr val="accent1"/>
            </a:solidFill>
            <a:prstDash val="solid"/>
          </a:ln>
        </p:spPr>
      </p:sp>
      <p:sp>
        <p:nvSpPr>
          <p:cNvPr id="9" name="a2: CLI box label"/>
          <p:cNvSpPr txBox="1"/>
          <p:nvPr/>
        </p:nvSpPr>
        <p:spPr>
          <a:xfrm>
            <a:off x="3108960" y="1234440"/>
            <a:ext cx="2286000" cy="731520"/>
          </a:xfrm>
          <a:prstGeom prst="rect">
            <a:avLst/>
          </a:prstGeom>
          <a:noFill/>
          <a:ln/>
        </p:spPr>
        <p:txBody>
          <a:bodyPr wrap="square" lIns="635" tIns="635" rIns="635" bIns="635"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Terminal UI</a:t>
            </a:r>
            <a:endParaRPr lang="en-US" sz="1500" dirty="0"/>
          </a:p>
          <a:p>
            <a:pPr algn="ctr" indent="0" marL="0">
              <a:buNone/>
            </a:pPr>
            <a:r>
              <a:rPr lang="en-US" sz="1200" dirty="0">
                <a:solidFill>
                  <a:schemeClr val="tx2"/>
                </a:solidFill>
                <a:latin typeface="Calibri" pitchFamily="34" charset="0"/>
                <a:ea typeface="Calibri" pitchFamily="34" charset="-122"/>
                <a:cs typeface="Calibri" pitchFamily="34" charset="-120"/>
              </a:rPr>
              <a:t>cli.py</a:t>
            </a:r>
            <a:endParaRPr lang="en-US" sz="1500" dirty="0"/>
          </a:p>
        </p:txBody>
      </p:sp>
      <p:sp>
        <p:nvSpPr>
          <p:cNvPr id="10" name="a2: Web box"/>
          <p:cNvSpPr/>
          <p:nvPr/>
        </p:nvSpPr>
        <p:spPr>
          <a:xfrm>
            <a:off x="3108960" y="2148840"/>
            <a:ext cx="2286000" cy="731520"/>
          </a:xfrm>
          <a:prstGeom prst="roundRect">
            <a:avLst>
              <a:gd name="adj" fmla="val 12500"/>
            </a:avLst>
          </a:prstGeom>
          <a:solidFill>
            <a:schemeClr val="bg2"/>
          </a:solidFill>
          <a:ln w="22225">
            <a:solidFill>
              <a:schemeClr val="accent1"/>
            </a:solidFill>
            <a:prstDash val="solid"/>
          </a:ln>
        </p:spPr>
      </p:sp>
      <p:sp>
        <p:nvSpPr>
          <p:cNvPr id="11" name="a2: Web box label"/>
          <p:cNvSpPr txBox="1"/>
          <p:nvPr/>
        </p:nvSpPr>
        <p:spPr>
          <a:xfrm>
            <a:off x="3108960" y="2148840"/>
            <a:ext cx="2286000" cy="731520"/>
          </a:xfrm>
          <a:prstGeom prst="rect">
            <a:avLst/>
          </a:prstGeom>
          <a:noFill/>
          <a:ln/>
        </p:spPr>
        <p:txBody>
          <a:bodyPr wrap="square" lIns="635" tIns="635" rIns="635" bIns="635"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Web UI</a:t>
            </a:r>
            <a:endParaRPr lang="en-US" sz="1500" dirty="0"/>
          </a:p>
          <a:p>
            <a:pPr algn="ctr" indent="0" marL="0">
              <a:buNone/>
            </a:pPr>
            <a:r>
              <a:rPr lang="en-US" sz="1200" dirty="0">
                <a:solidFill>
                  <a:schemeClr val="tx2"/>
                </a:solidFill>
                <a:latin typeface="Calibri" pitchFamily="34" charset="0"/>
                <a:ea typeface="Calibri" pitchFamily="34" charset="-122"/>
                <a:cs typeface="Calibri" pitchFamily="34" charset="-120"/>
              </a:rPr>
              <a:t>web.py · 127.0.0.1</a:t>
            </a:r>
            <a:endParaRPr lang="en-US" sz="1500" dirty="0"/>
          </a:p>
        </p:txBody>
      </p:sp>
      <p:sp>
        <p:nvSpPr>
          <p:cNvPr id="12" name="a3: Arrow cli agent"/>
          <p:cNvSpPr/>
          <p:nvPr/>
        </p:nvSpPr>
        <p:spPr>
          <a:xfrm>
            <a:off x="5394960" y="1600200"/>
            <a:ext cx="640080" cy="320040"/>
          </a:xfrm>
          <a:prstGeom prst="line">
            <a:avLst/>
          </a:prstGeom>
          <a:noFill/>
          <a:ln w="19050">
            <a:solidFill>
              <a:srgbClr val="98A2B3"/>
            </a:solidFill>
            <a:prstDash val="solid"/>
            <a:tailEnd type="triangle"/>
          </a:ln>
        </p:spPr>
      </p:sp>
      <p:sp>
        <p:nvSpPr>
          <p:cNvPr id="13" name="a3: Arrow web agent"/>
          <p:cNvSpPr/>
          <p:nvPr/>
        </p:nvSpPr>
        <p:spPr>
          <a:xfrm flipV="1">
            <a:off x="5394960" y="2103120"/>
            <a:ext cx="640080" cy="411480"/>
          </a:xfrm>
          <a:prstGeom prst="line">
            <a:avLst/>
          </a:prstGeom>
          <a:noFill/>
          <a:ln w="19050">
            <a:solidFill>
              <a:srgbClr val="98A2B3"/>
            </a:solidFill>
            <a:prstDash val="solid"/>
            <a:tailEnd type="triangle"/>
          </a:ln>
        </p:spPr>
      </p:sp>
      <p:sp>
        <p:nvSpPr>
          <p:cNvPr id="14" name="a3: Agent box"/>
          <p:cNvSpPr/>
          <p:nvPr/>
        </p:nvSpPr>
        <p:spPr>
          <a:xfrm>
            <a:off x="6035040" y="1554480"/>
            <a:ext cx="2377440" cy="868680"/>
          </a:xfrm>
          <a:prstGeom prst="roundRect">
            <a:avLst>
              <a:gd name="adj" fmla="val 10526"/>
            </a:avLst>
          </a:prstGeom>
          <a:solidFill>
            <a:schemeClr val="bg2"/>
          </a:solidFill>
          <a:ln w="22225">
            <a:solidFill>
              <a:schemeClr val="accent2"/>
            </a:solidFill>
            <a:prstDash val="solid"/>
          </a:ln>
        </p:spPr>
      </p:sp>
      <p:sp>
        <p:nvSpPr>
          <p:cNvPr id="15" name="a3: Agent box label"/>
          <p:cNvSpPr txBox="1"/>
          <p:nvPr/>
        </p:nvSpPr>
        <p:spPr>
          <a:xfrm>
            <a:off x="6035040" y="1554480"/>
            <a:ext cx="2377440" cy="868680"/>
          </a:xfrm>
          <a:prstGeom prst="rect">
            <a:avLst/>
          </a:prstGeom>
          <a:noFill/>
          <a:ln/>
        </p:spPr>
        <p:txBody>
          <a:bodyPr wrap="square" lIns="635" tIns="635" rIns="635" bIns="635"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Agent loop</a:t>
            </a:r>
            <a:endParaRPr lang="en-US" sz="1500" dirty="0"/>
          </a:p>
          <a:p>
            <a:pPr algn="ctr" indent="0" marL="0">
              <a:buNone/>
            </a:pPr>
            <a:r>
              <a:rPr lang="en-US" sz="1200" dirty="0">
                <a:solidFill>
                  <a:schemeClr val="tx2"/>
                </a:solidFill>
                <a:latin typeface="Calibri" pitchFamily="34" charset="0"/>
                <a:ea typeface="Calibri" pitchFamily="34" charset="-122"/>
                <a:cs typeface="Calibri" pitchFamily="34" charset="-120"/>
              </a:rPr>
              <a:t>agent.py · bounded</a:t>
            </a:r>
            <a:endParaRPr lang="en-US" sz="1500" dirty="0"/>
          </a:p>
        </p:txBody>
      </p:sp>
      <p:sp>
        <p:nvSpPr>
          <p:cNvPr id="16" name="a4: Arrow agent ollama"/>
          <p:cNvSpPr/>
          <p:nvPr/>
        </p:nvSpPr>
        <p:spPr>
          <a:xfrm>
            <a:off x="8412480" y="1984248"/>
            <a:ext cx="731520" cy="0"/>
          </a:xfrm>
          <a:prstGeom prst="line">
            <a:avLst/>
          </a:prstGeom>
          <a:noFill/>
          <a:ln w="19050">
            <a:solidFill>
              <a:srgbClr val="98A2B3"/>
            </a:solidFill>
            <a:prstDash val="solid"/>
            <a:tailEnd type="triangle"/>
          </a:ln>
        </p:spPr>
      </p:sp>
      <p:sp>
        <p:nvSpPr>
          <p:cNvPr id="17" name="a4: Ollama box"/>
          <p:cNvSpPr/>
          <p:nvPr/>
        </p:nvSpPr>
        <p:spPr>
          <a:xfrm>
            <a:off x="9144000" y="1554480"/>
            <a:ext cx="2468880" cy="868680"/>
          </a:xfrm>
          <a:prstGeom prst="roundRect">
            <a:avLst>
              <a:gd name="adj" fmla="val 10526"/>
            </a:avLst>
          </a:prstGeom>
          <a:solidFill>
            <a:schemeClr val="bg2"/>
          </a:solidFill>
          <a:ln w="22225">
            <a:solidFill>
              <a:schemeClr val="accent3"/>
            </a:solidFill>
            <a:prstDash val="solid"/>
          </a:ln>
        </p:spPr>
      </p:sp>
      <p:sp>
        <p:nvSpPr>
          <p:cNvPr id="18" name="a4: Ollama box label"/>
          <p:cNvSpPr txBox="1"/>
          <p:nvPr/>
        </p:nvSpPr>
        <p:spPr>
          <a:xfrm>
            <a:off x="9144000" y="1554480"/>
            <a:ext cx="2468880" cy="868680"/>
          </a:xfrm>
          <a:prstGeom prst="rect">
            <a:avLst/>
          </a:prstGeom>
          <a:noFill/>
          <a:ln/>
        </p:spPr>
        <p:txBody>
          <a:bodyPr wrap="square" lIns="635" tIns="635" rIns="635" bIns="635"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Ollama (local)</a:t>
            </a:r>
            <a:endParaRPr lang="en-US" sz="1500" dirty="0"/>
          </a:p>
          <a:p>
            <a:pPr algn="ctr" indent="0" marL="0">
              <a:buNone/>
            </a:pPr>
            <a:r>
              <a:rPr lang="en-US" sz="1200" dirty="0">
                <a:solidFill>
                  <a:schemeClr val="tx2"/>
                </a:solidFill>
                <a:latin typeface="Calibri" pitchFamily="34" charset="0"/>
                <a:ea typeface="Calibri" pitchFamily="34" charset="-122"/>
                <a:cs typeface="Calibri" pitchFamily="34" charset="-120"/>
              </a:rPr>
              <a:t>qwen3:4b · 127.0.0.1:11434</a:t>
            </a:r>
            <a:endParaRPr lang="en-US" sz="1500" dirty="0"/>
          </a:p>
        </p:txBody>
      </p:sp>
      <p:sp>
        <p:nvSpPr>
          <p:cNvPr id="19" name="a4: Ollama label"/>
          <p:cNvSpPr txBox="1"/>
          <p:nvPr/>
        </p:nvSpPr>
        <p:spPr>
          <a:xfrm>
            <a:off x="8366760" y="2514600"/>
            <a:ext cx="3291840" cy="59436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messages + tool schemas  →</a:t>
            </a:r>
            <a:endParaRPr lang="en-US" sz="1200" dirty="0"/>
          </a:p>
          <a:p>
            <a:pPr algn="ctr" indent="0" marL="0">
              <a:buNone/>
            </a:pPr>
            <a:r>
              <a:rPr lang="en-US" sz="1200" dirty="0">
                <a:solidFill>
                  <a:schemeClr val="tx2"/>
                </a:solidFill>
                <a:latin typeface="Calibri" pitchFamily="34" charset="0"/>
                <a:ea typeface="Calibri" pitchFamily="34" charset="-122"/>
                <a:cs typeface="Calibri" pitchFamily="34" charset="-120"/>
              </a:rPr>
              <a:t>←  text or structured tool call</a:t>
            </a:r>
            <a:endParaRPr lang="en-US" sz="1200" dirty="0"/>
          </a:p>
        </p:txBody>
      </p:sp>
      <p:sp>
        <p:nvSpPr>
          <p:cNvPr id="20" name="a5: Arrow agent registry"/>
          <p:cNvSpPr/>
          <p:nvPr/>
        </p:nvSpPr>
        <p:spPr>
          <a:xfrm>
            <a:off x="7223760" y="2423160"/>
            <a:ext cx="0" cy="914400"/>
          </a:xfrm>
          <a:prstGeom prst="line">
            <a:avLst/>
          </a:prstGeom>
          <a:noFill/>
          <a:ln w="19050">
            <a:solidFill>
              <a:srgbClr val="98A2B3"/>
            </a:solidFill>
            <a:prstDash val="solid"/>
            <a:tailEnd type="triangle"/>
          </a:ln>
        </p:spPr>
      </p:sp>
      <p:sp>
        <p:nvSpPr>
          <p:cNvPr id="21" name="a5: Registry box"/>
          <p:cNvSpPr/>
          <p:nvPr/>
        </p:nvSpPr>
        <p:spPr>
          <a:xfrm>
            <a:off x="6035040" y="3337560"/>
            <a:ext cx="2377440" cy="868680"/>
          </a:xfrm>
          <a:prstGeom prst="roundRect">
            <a:avLst>
              <a:gd name="adj" fmla="val 10526"/>
            </a:avLst>
          </a:prstGeom>
          <a:solidFill>
            <a:schemeClr val="bg2"/>
          </a:solidFill>
          <a:ln w="22225">
            <a:solidFill>
              <a:schemeClr val="accent5"/>
            </a:solidFill>
            <a:prstDash val="solid"/>
          </a:ln>
        </p:spPr>
      </p:sp>
      <p:sp>
        <p:nvSpPr>
          <p:cNvPr id="22" name="a5: Registry box label"/>
          <p:cNvSpPr txBox="1"/>
          <p:nvPr/>
        </p:nvSpPr>
        <p:spPr>
          <a:xfrm>
            <a:off x="6035040" y="3337560"/>
            <a:ext cx="2377440" cy="868680"/>
          </a:xfrm>
          <a:prstGeom prst="rect">
            <a:avLst/>
          </a:prstGeom>
          <a:noFill/>
          <a:ln/>
        </p:spPr>
        <p:txBody>
          <a:bodyPr wrap="square" lIns="635" tIns="635" rIns="635" bIns="635"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ToolRegistry</a:t>
            </a:r>
            <a:endParaRPr lang="en-US" sz="1500" dirty="0"/>
          </a:p>
          <a:p>
            <a:pPr algn="ctr" indent="0" marL="0">
              <a:buNone/>
            </a:pPr>
            <a:r>
              <a:rPr lang="en-US" sz="1200" dirty="0">
                <a:solidFill>
                  <a:schemeClr val="tx2"/>
                </a:solidFill>
                <a:latin typeface="Calibri" pitchFamily="34" charset="0"/>
                <a:ea typeface="Calibri" pitchFamily="34" charset="-122"/>
                <a:cs typeface="Calibri" pitchFamily="34" charset="-120"/>
              </a:rPr>
              <a:t>tools.py · validate → run</a:t>
            </a:r>
            <a:endParaRPr lang="en-US" sz="1500" dirty="0"/>
          </a:p>
        </p:txBody>
      </p:sp>
      <p:sp>
        <p:nvSpPr>
          <p:cNvPr id="23" name="a6: Arrow calc"/>
          <p:cNvSpPr/>
          <p:nvPr/>
        </p:nvSpPr>
        <p:spPr>
          <a:xfrm flipH="1">
            <a:off x="4846320" y="4206240"/>
            <a:ext cx="1737360" cy="502920"/>
          </a:xfrm>
          <a:prstGeom prst="line">
            <a:avLst/>
          </a:prstGeom>
          <a:noFill/>
          <a:ln w="19050">
            <a:solidFill>
              <a:srgbClr val="98A2B3"/>
            </a:solidFill>
            <a:prstDash val="solid"/>
            <a:tailEnd type="triangle"/>
          </a:ln>
        </p:spPr>
      </p:sp>
      <p:sp>
        <p:nvSpPr>
          <p:cNvPr id="24" name="a6: Arrow notes"/>
          <p:cNvSpPr/>
          <p:nvPr/>
        </p:nvSpPr>
        <p:spPr>
          <a:xfrm>
            <a:off x="7223760" y="4206240"/>
            <a:ext cx="0" cy="502920"/>
          </a:xfrm>
          <a:prstGeom prst="line">
            <a:avLst/>
          </a:prstGeom>
          <a:noFill/>
          <a:ln w="19050">
            <a:solidFill>
              <a:srgbClr val="98A2B3"/>
            </a:solidFill>
            <a:prstDash val="solid"/>
            <a:tailEnd type="triangle"/>
          </a:ln>
        </p:spPr>
      </p:sp>
      <p:sp>
        <p:nvSpPr>
          <p:cNvPr id="25" name="a6: Arrow other"/>
          <p:cNvSpPr/>
          <p:nvPr/>
        </p:nvSpPr>
        <p:spPr>
          <a:xfrm>
            <a:off x="7863840" y="4206240"/>
            <a:ext cx="1828800" cy="502920"/>
          </a:xfrm>
          <a:prstGeom prst="line">
            <a:avLst/>
          </a:prstGeom>
          <a:noFill/>
          <a:ln w="19050">
            <a:solidFill>
              <a:srgbClr val="98A2B3"/>
            </a:solidFill>
            <a:prstDash val="solid"/>
            <a:tailEnd type="triangle"/>
          </a:ln>
        </p:spPr>
      </p:sp>
      <p:sp>
        <p:nvSpPr>
          <p:cNvPr id="26" name="a6: Calculator box"/>
          <p:cNvSpPr/>
          <p:nvPr/>
        </p:nvSpPr>
        <p:spPr>
          <a:xfrm>
            <a:off x="3108960" y="4709160"/>
            <a:ext cx="2286000" cy="731520"/>
          </a:xfrm>
          <a:prstGeom prst="roundRect">
            <a:avLst>
              <a:gd name="adj" fmla="val 12500"/>
            </a:avLst>
          </a:prstGeom>
          <a:solidFill>
            <a:schemeClr val="bg2"/>
          </a:solidFill>
          <a:ln w="22225">
            <a:solidFill>
              <a:schemeClr val="accent5"/>
            </a:solidFill>
            <a:prstDash val="solid"/>
          </a:ln>
        </p:spPr>
      </p:sp>
      <p:sp>
        <p:nvSpPr>
          <p:cNvPr id="27" name="a6: Calculator box label"/>
          <p:cNvSpPr txBox="1"/>
          <p:nvPr/>
        </p:nvSpPr>
        <p:spPr>
          <a:xfrm>
            <a:off x="3108960" y="4709160"/>
            <a:ext cx="2286000" cy="731520"/>
          </a:xfrm>
          <a:prstGeom prst="rect">
            <a:avLst/>
          </a:prstGeom>
          <a:noFill/>
          <a:ln/>
        </p:spPr>
        <p:txBody>
          <a:bodyPr wrap="square" lIns="635" tIns="635" rIns="635" bIns="635"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calculator.py</a:t>
            </a:r>
            <a:endParaRPr lang="en-US" sz="1500" dirty="0"/>
          </a:p>
          <a:p>
            <a:pPr algn="ctr" indent="0" marL="0">
              <a:buNone/>
            </a:pPr>
            <a:r>
              <a:rPr lang="en-US" sz="1200" dirty="0">
                <a:solidFill>
                  <a:schemeClr val="tx2"/>
                </a:solidFill>
                <a:latin typeface="Calibri" pitchFamily="34" charset="0"/>
                <a:ea typeface="Calibri" pitchFamily="34" charset="-122"/>
                <a:cs typeface="Calibri" pitchFamily="34" charset="-120"/>
              </a:rPr>
              <a:t>AST, size limits</a:t>
            </a:r>
            <a:endParaRPr lang="en-US" sz="1500" dirty="0"/>
          </a:p>
        </p:txBody>
      </p:sp>
      <p:sp>
        <p:nvSpPr>
          <p:cNvPr id="28" name="a6: Notes box"/>
          <p:cNvSpPr/>
          <p:nvPr/>
        </p:nvSpPr>
        <p:spPr>
          <a:xfrm>
            <a:off x="6035040" y="4709160"/>
            <a:ext cx="2377440" cy="731520"/>
          </a:xfrm>
          <a:prstGeom prst="roundRect">
            <a:avLst>
              <a:gd name="adj" fmla="val 12500"/>
            </a:avLst>
          </a:prstGeom>
          <a:solidFill>
            <a:schemeClr val="bg2"/>
          </a:solidFill>
          <a:ln w="22225">
            <a:solidFill>
              <a:schemeClr val="accent5"/>
            </a:solidFill>
            <a:prstDash val="solid"/>
          </a:ln>
        </p:spPr>
      </p:sp>
      <p:sp>
        <p:nvSpPr>
          <p:cNvPr id="29" name="a6: Notes box label"/>
          <p:cNvSpPr txBox="1"/>
          <p:nvPr/>
        </p:nvSpPr>
        <p:spPr>
          <a:xfrm>
            <a:off x="6035040" y="4709160"/>
            <a:ext cx="2377440" cy="731520"/>
          </a:xfrm>
          <a:prstGeom prst="rect">
            <a:avLst/>
          </a:prstGeom>
          <a:noFill/>
          <a:ln/>
        </p:spPr>
        <p:txBody>
          <a:bodyPr wrap="square" lIns="635" tIns="635" rIns="635" bIns="635"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notes.py</a:t>
            </a:r>
            <a:endParaRPr lang="en-US" sz="1500" dirty="0"/>
          </a:p>
          <a:p>
            <a:pPr algn="ctr" indent="0" marL="0">
              <a:buNone/>
            </a:pPr>
            <a:r>
              <a:rPr lang="en-US" sz="1200" dirty="0">
                <a:solidFill>
                  <a:schemeClr val="tx2"/>
                </a:solidFill>
                <a:latin typeface="Calibri" pitchFamily="34" charset="0"/>
                <a:ea typeface="Calibri" pitchFamily="34" charset="-122"/>
                <a:cs typeface="Calibri" pitchFamily="34" charset="-120"/>
              </a:rPr>
              <a:t>data/notes/*.txt</a:t>
            </a:r>
            <a:endParaRPr lang="en-US" sz="1500" dirty="0"/>
          </a:p>
        </p:txBody>
      </p:sp>
      <p:sp>
        <p:nvSpPr>
          <p:cNvPr id="30" name="a6: Other tools box"/>
          <p:cNvSpPr/>
          <p:nvPr/>
        </p:nvSpPr>
        <p:spPr>
          <a:xfrm>
            <a:off x="9052560" y="4709160"/>
            <a:ext cx="2560320" cy="731520"/>
          </a:xfrm>
          <a:prstGeom prst="roundRect">
            <a:avLst>
              <a:gd name="adj" fmla="val 12500"/>
            </a:avLst>
          </a:prstGeom>
          <a:solidFill>
            <a:schemeClr val="bg2"/>
          </a:solidFill>
          <a:ln w="22225">
            <a:solidFill>
              <a:schemeClr val="accent5"/>
            </a:solidFill>
            <a:prstDash val="solid"/>
          </a:ln>
        </p:spPr>
      </p:sp>
      <p:sp>
        <p:nvSpPr>
          <p:cNvPr id="31" name="a6: Other tools box label"/>
          <p:cNvSpPr txBox="1"/>
          <p:nvPr/>
        </p:nvSpPr>
        <p:spPr>
          <a:xfrm>
            <a:off x="9052560" y="4709160"/>
            <a:ext cx="2560320" cy="731520"/>
          </a:xfrm>
          <a:prstGeom prst="rect">
            <a:avLst/>
          </a:prstGeom>
          <a:noFill/>
          <a:ln/>
        </p:spPr>
        <p:txBody>
          <a:bodyPr wrap="square" lIns="635" tIns="635" rIns="635" bIns="635"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datetime · word count · help</a:t>
            </a:r>
            <a:endParaRPr lang="en-US" sz="1500" dirty="0"/>
          </a:p>
          <a:p>
            <a:pPr algn="ctr" indent="0" marL="0">
              <a:buNone/>
            </a:pPr>
            <a:r>
              <a:rPr lang="en-US" sz="1200" dirty="0">
                <a:solidFill>
                  <a:schemeClr val="tx2"/>
                </a:solidFill>
                <a:latin typeface="Calibri" pitchFamily="34" charset="0"/>
                <a:ea typeface="Calibri" pitchFamily="34" charset="-122"/>
                <a:cs typeface="Calibri" pitchFamily="34" charset="-120"/>
              </a:rPr>
              <a:t>deterministic</a:t>
            </a:r>
            <a:endParaRPr lang="en-US" sz="1500" dirty="0"/>
          </a:p>
        </p:txBody>
      </p:sp>
      <p:sp>
        <p:nvSpPr>
          <p:cNvPr id="32" name="a7: Config box"/>
          <p:cNvSpPr/>
          <p:nvPr/>
        </p:nvSpPr>
        <p:spPr>
          <a:xfrm>
            <a:off x="548640" y="3337560"/>
            <a:ext cx="2011680" cy="868680"/>
          </a:xfrm>
          <a:prstGeom prst="roundRect">
            <a:avLst>
              <a:gd name="adj" fmla="val 10526"/>
            </a:avLst>
          </a:prstGeom>
          <a:solidFill>
            <a:schemeClr val="bg2"/>
          </a:solidFill>
          <a:ln w="22225">
            <a:solidFill>
              <a:schemeClr val="tx2"/>
            </a:solidFill>
            <a:prstDash val="solid"/>
          </a:ln>
        </p:spPr>
      </p:sp>
      <p:sp>
        <p:nvSpPr>
          <p:cNvPr id="33" name="a7: Config box label"/>
          <p:cNvSpPr txBox="1"/>
          <p:nvPr/>
        </p:nvSpPr>
        <p:spPr>
          <a:xfrm>
            <a:off x="548640" y="3337560"/>
            <a:ext cx="2011680" cy="868680"/>
          </a:xfrm>
          <a:prstGeom prst="rect">
            <a:avLst/>
          </a:prstGeom>
          <a:noFill/>
          <a:ln/>
        </p:spPr>
        <p:txBody>
          <a:bodyPr wrap="square" lIns="635" tIns="635" rIns="635" bIns="635"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config.py</a:t>
            </a:r>
            <a:endParaRPr lang="en-US" sz="1500" dirty="0"/>
          </a:p>
          <a:p>
            <a:pPr algn="ctr" indent="0" marL="0">
              <a:buNone/>
            </a:pPr>
            <a:r>
              <a:rPr lang="en-US" sz="1200" dirty="0">
                <a:solidFill>
                  <a:schemeClr val="tx2"/>
                </a:solidFill>
                <a:latin typeface="Calibri" pitchFamily="34" charset="0"/>
                <a:ea typeface="Calibri" pitchFamily="34" charset="-122"/>
                <a:cs typeface="Calibri" pitchFamily="34" charset="-120"/>
              </a:rPr>
              <a:t>settings + offline guards</a:t>
            </a:r>
            <a:endParaRPr lang="en-US" sz="1500" dirty="0"/>
          </a:p>
        </p:txBody>
      </p:sp>
      <p:sp>
        <p:nvSpPr>
          <p:cNvPr id="34" name="a8: Caption"/>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400" i="1" dirty="0">
                <a:solidFill>
                  <a:schemeClr val="accent2"/>
                </a:solidFill>
                <a:latin typeface="Calibri" pitchFamily="34" charset="0"/>
                <a:ea typeface="Calibri" pitchFamily="34" charset="-122"/>
                <a:cs typeface="Calibri" pitchFamily="34" charset="-120"/>
              </a:rPr>
              <a:t>The model only proposes. The registry checks every call against the allow-list and validates its arguments before anything runs.</a:t>
            </a:r>
            <a:endParaRPr lang="en-US" sz="1400" dirty="0"/>
          </a:p>
        </p:txBody>
      </p:sp>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4</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30" fill="hold">
                            <p:stCondLst>
                              <p:cond delay="35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par>
                          <p:cTn id="43" fill="hold">
                            <p:stCondLst>
                              <p:cond delay="700"/>
                            </p:stCondLst>
                            <p:childTnLst>
                              <p:par>
                                <p:cTn id="31" presetID="10" presetClass="entr" presetSubtype="0"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par>
                          <p:cTn id="56" fill="hold">
                            <p:stCondLst>
                              <p:cond delay="1050"/>
                            </p:stCondLst>
                            <p:childTnLst>
                              <p:par>
                                <p:cTn id="44" presetID="10" presetClass="entr" presetSubtype="0"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par>
                          <p:cTn id="66" fill="hold">
                            <p:stCondLst>
                              <p:cond delay="1400"/>
                            </p:stCondLst>
                            <p:childTnLst>
                              <p:par>
                                <p:cTn id="57" presetID="10" presetClass="entr" presetSubtype="0"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childTnLst>
                          </p:cTn>
                        </p:par>
                        <p:par>
                          <p:cTn id="94" fill="hold">
                            <p:stCondLst>
                              <p:cond delay="1750"/>
                            </p:stCondLst>
                            <p:childTnLst>
                              <p:par>
                                <p:cTn id="67" presetID="10" presetClass="entr" presetSubtype="0" fill="hold" grpId="0" nodeType="after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childTnLst>
                          </p:cTn>
                        </p:par>
                        <p:par>
                          <p:cTn id="101" fill="hold">
                            <p:stCondLst>
                              <p:cond delay="2100"/>
                            </p:stCondLst>
                            <p:childTnLst>
                              <p:par>
                                <p:cTn id="95" presetID="10" presetClass="entr" presetSubtype="0" fill="hold" grpId="0" nodeType="after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childTnLst>
                          </p:cTn>
                        </p:par>
                        <p:par>
                          <p:cTn id="105" fill="hold">
                            <p:stCondLst>
                              <p:cond delay="2450"/>
                            </p:stCondLst>
                            <p:childTnLst>
                              <p:par>
                                <p:cTn id="102" presetID="10" presetClass="entr" presetSubtype="0" fill="hold" grpId="0" nodeType="after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Offline inference pipeline and data flow</a:t>
            </a:r>
            <a:endParaRPr lang="en-US" sz="3200" dirty="0"/>
          </a:p>
        </p:txBody>
      </p:sp>
      <p:sp>
        <p:nvSpPr>
          <p:cNvPr id="3" name="Section navigation"/>
          <p:cNvSpPr txBox="1"/>
          <p:nvPr/>
        </p:nvSpPr>
        <p:spPr>
          <a:xfrm>
            <a:off x="4206240" y="6400800"/>
            <a:ext cx="6766560" cy="274320"/>
          </a:xfrm>
          <a:prstGeom prst="rect">
            <a:avLst/>
          </a:prstGeom>
          <a:noFill/>
          <a:ln/>
        </p:spPr>
        <p:txBody>
          <a:bodyPr wrap="square" lIns="0" tIns="0" rIns="0" bIns="0" rtlCol="0" anchor="t"/>
          <a:lstStyle/>
          <a:p>
            <a:pPr algn="r" indent="0" marL="0">
              <a:buNone/>
            </a:pPr>
            <a:r>
              <a:rPr lang="en-US" sz="1000" u="sng" dirty="0">
                <a:solidFill>
                  <a:schemeClr val="tx2"/>
                </a:solidFill>
                <a:latin typeface="Calibri" pitchFamily="34" charset="0"/>
                <a:ea typeface="Calibri" pitchFamily="34" charset="-122"/>
                <a:cs typeface="Calibri" pitchFamily="34" charset="-120"/>
                <a:hlinkClick r:id="rId1" action="ppaction://hlinksldjump" tooltip="Go to Home">
                  <a:extLst>
                    <a:ext uri="{A12FA001-AC4F-418D-AE19-62706E023703}">
                      <ahyp:hlinkClr xmlns:ahyp="http://schemas.microsoft.com/office/drawing/2018/hyperlinkcolor" val="tx"/>
                    </a:ext>
                  </a:extLst>
                </a:hlinkClick>
              </a:rPr>
              <a:t>Home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2" action="ppaction://hlinksldjump" tooltip="Go to Architecture">
                  <a:extLst>
                    <a:ext uri="{A12FA001-AC4F-418D-AE19-62706E023703}">
                      <ahyp:hlinkClr xmlns:ahyp="http://schemas.microsoft.com/office/drawing/2018/hyperlinkcolor" val="tx"/>
                    </a:ext>
                  </a:extLst>
                </a:hlinkClick>
              </a:rPr>
              <a:t>Architecture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b="1" dirty="0">
                <a:solidFill>
                  <a:schemeClr val="accent1"/>
                </a:solidFill>
                <a:latin typeface="Calibri" pitchFamily="34" charset="0"/>
                <a:ea typeface="Calibri" pitchFamily="34" charset="-122"/>
                <a:cs typeface="Calibri" pitchFamily="34" charset="-120"/>
              </a:rPr>
              <a:t>Pipeline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3" action="ppaction://hlinksldjump" tooltip="Go to Security">
                  <a:extLst>
                    <a:ext uri="{A12FA001-AC4F-418D-AE19-62706E023703}">
                      <ahyp:hlinkClr xmlns:ahyp="http://schemas.microsoft.com/office/drawing/2018/hyperlinkcolor" val="tx"/>
                    </a:ext>
                  </a:extLst>
                </a:hlinkClick>
              </a:rPr>
              <a:t>Security</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4" action="ppaction://hlinksldjump" tooltip="Go to Results">
                  <a:extLst>
                    <a:ext uri="{A12FA001-AC4F-418D-AE19-62706E023703}">
                      <ahyp:hlinkClr xmlns:ahyp="http://schemas.microsoft.com/office/drawing/2018/hyperlinkcolor" val="tx"/>
                    </a:ext>
                  </a:extLst>
                </a:hlinkClick>
              </a:rPr>
              <a:t>Results</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5" action="ppaction://hlinksldjump" tooltip="Go to Contact">
                  <a:extLst>
                    <a:ext uri="{A12FA001-AC4F-418D-AE19-62706E023703}">
                      <ahyp:hlinkClr xmlns:ahyp="http://schemas.microsoft.com/office/drawing/2018/hyperlinkcolor" val="tx"/>
                    </a:ext>
                  </a:extLst>
                </a:hlinkClick>
              </a:rPr>
              <a:t>Contact</a:t>
            </a:r>
            <a:endParaRPr lang="en-US" sz="1000" dirty="0"/>
          </a:p>
        </p:txBody>
      </p:sp>
      <p:sp>
        <p:nvSpPr>
          <p:cNvPr id="4" name="a1: Local boundary"/>
          <p:cNvSpPr/>
          <p:nvPr/>
        </p:nvSpPr>
        <p:spPr>
          <a:xfrm>
            <a:off x="548640" y="1280160"/>
            <a:ext cx="11064240" cy="2057400"/>
          </a:xfrm>
          <a:prstGeom prst="roundRect">
            <a:avLst>
              <a:gd name="adj" fmla="val 6667"/>
            </a:avLst>
          </a:prstGeom>
          <a:solidFill>
            <a:schemeClr val="accent3">
              <a:alpha val="6000"/>
            </a:schemeClr>
          </a:solidFill>
          <a:ln w="15875">
            <a:solidFill>
              <a:schemeClr val="accent3"/>
            </a:solidFill>
            <a:prstDash val="dash"/>
          </a:ln>
        </p:spPr>
      </p:sp>
      <p:sp>
        <p:nvSpPr>
          <p:cNvPr id="5" name="a1: Local boundary label"/>
          <p:cNvSpPr txBox="1"/>
          <p:nvPr/>
        </p:nvSpPr>
        <p:spPr>
          <a:xfrm>
            <a:off x="777240" y="1371600"/>
            <a:ext cx="7315200" cy="32004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Your computer — all traffic stays on 127.0.0.1</a:t>
            </a:r>
            <a:endParaRPr lang="en-US" sz="1300" dirty="0"/>
          </a:p>
        </p:txBody>
      </p:sp>
      <p:sp>
        <p:nvSpPr>
          <p:cNvPr id="6" name="a2: Chain 0"/>
          <p:cNvSpPr/>
          <p:nvPr/>
        </p:nvSpPr>
        <p:spPr>
          <a:xfrm>
            <a:off x="822960" y="1874520"/>
            <a:ext cx="1828800" cy="1143000"/>
          </a:xfrm>
          <a:prstGeom prst="roundRect">
            <a:avLst>
              <a:gd name="adj" fmla="val 8000"/>
            </a:avLst>
          </a:prstGeom>
          <a:solidFill>
            <a:schemeClr val="bg2"/>
          </a:solidFill>
          <a:ln w="22225">
            <a:solidFill>
              <a:schemeClr val="accent1"/>
            </a:solidFill>
            <a:prstDash val="solid"/>
          </a:ln>
        </p:spPr>
      </p:sp>
      <p:sp>
        <p:nvSpPr>
          <p:cNvPr id="7" name="a2: Chain 0 label"/>
          <p:cNvSpPr txBox="1"/>
          <p:nvPr/>
        </p:nvSpPr>
        <p:spPr>
          <a:xfrm>
            <a:off x="822960" y="1874520"/>
            <a:ext cx="1828800" cy="114300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You</a:t>
            </a:r>
            <a:endParaRPr lang="en-US" sz="1400" dirty="0"/>
          </a:p>
          <a:p>
            <a:pPr algn="ctr" indent="0" marL="0">
              <a:buNone/>
            </a:pPr>
            <a:r>
              <a:rPr lang="en-US" sz="1200" dirty="0">
                <a:solidFill>
                  <a:schemeClr val="tx2"/>
                </a:solidFill>
                <a:latin typeface="Calibri" pitchFamily="34" charset="0"/>
                <a:ea typeface="Calibri" pitchFamily="34" charset="-122"/>
                <a:cs typeface="Calibri" pitchFamily="34" charset="-120"/>
              </a:rPr>
              <a:t>prompt</a:t>
            </a:r>
            <a:endParaRPr lang="en-US" sz="1400" dirty="0"/>
          </a:p>
        </p:txBody>
      </p:sp>
      <p:sp>
        <p:nvSpPr>
          <p:cNvPr id="8" name="a3: Chain arrow 0"/>
          <p:cNvSpPr/>
          <p:nvPr/>
        </p:nvSpPr>
        <p:spPr>
          <a:xfrm>
            <a:off x="2651760" y="2450592"/>
            <a:ext cx="384048" cy="0"/>
          </a:xfrm>
          <a:prstGeom prst="line">
            <a:avLst/>
          </a:prstGeom>
          <a:noFill/>
          <a:ln w="19050">
            <a:solidFill>
              <a:srgbClr val="98A2B3"/>
            </a:solidFill>
            <a:prstDash val="solid"/>
            <a:tailEnd type="triangle"/>
          </a:ln>
        </p:spPr>
      </p:sp>
      <p:sp>
        <p:nvSpPr>
          <p:cNvPr id="9" name="a3: Chain 1"/>
          <p:cNvSpPr/>
          <p:nvPr/>
        </p:nvSpPr>
        <p:spPr>
          <a:xfrm>
            <a:off x="3035808" y="1874520"/>
            <a:ext cx="1828800" cy="1143000"/>
          </a:xfrm>
          <a:prstGeom prst="roundRect">
            <a:avLst>
              <a:gd name="adj" fmla="val 8000"/>
            </a:avLst>
          </a:prstGeom>
          <a:solidFill>
            <a:schemeClr val="bg2"/>
          </a:solidFill>
          <a:ln w="22225">
            <a:solidFill>
              <a:schemeClr val="accent2"/>
            </a:solidFill>
            <a:prstDash val="solid"/>
          </a:ln>
        </p:spPr>
      </p:sp>
      <p:sp>
        <p:nvSpPr>
          <p:cNvPr id="10" name="a3: Chain 1 label"/>
          <p:cNvSpPr txBox="1"/>
          <p:nvPr/>
        </p:nvSpPr>
        <p:spPr>
          <a:xfrm>
            <a:off x="3035808" y="1874520"/>
            <a:ext cx="1828800" cy="114300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AgentForge</a:t>
            </a:r>
            <a:endParaRPr lang="en-US" sz="1400" dirty="0"/>
          </a:p>
          <a:p>
            <a:pPr algn="ctr" indent="0" marL="0">
              <a:buNone/>
            </a:pPr>
            <a:r>
              <a:rPr lang="en-US" sz="1200" dirty="0">
                <a:solidFill>
                  <a:schemeClr val="tx2"/>
                </a:solidFill>
                <a:latin typeface="Calibri" pitchFamily="34" charset="0"/>
                <a:ea typeface="Calibri" pitchFamily="34" charset="-122"/>
                <a:cs typeface="Calibri" pitchFamily="34" charset="-120"/>
              </a:rPr>
              <a:t>Python · validates</a:t>
            </a:r>
            <a:endParaRPr lang="en-US" sz="1400" dirty="0"/>
          </a:p>
        </p:txBody>
      </p:sp>
      <p:sp>
        <p:nvSpPr>
          <p:cNvPr id="11" name="a4: Chain arrow 1"/>
          <p:cNvSpPr/>
          <p:nvPr/>
        </p:nvSpPr>
        <p:spPr>
          <a:xfrm>
            <a:off x="4864608" y="2450592"/>
            <a:ext cx="384048" cy="0"/>
          </a:xfrm>
          <a:prstGeom prst="line">
            <a:avLst/>
          </a:prstGeom>
          <a:noFill/>
          <a:ln w="19050">
            <a:solidFill>
              <a:srgbClr val="98A2B3"/>
            </a:solidFill>
            <a:prstDash val="solid"/>
            <a:tailEnd type="triangle"/>
          </a:ln>
        </p:spPr>
      </p:sp>
      <p:sp>
        <p:nvSpPr>
          <p:cNvPr id="12" name="a4: Chain 2"/>
          <p:cNvSpPr/>
          <p:nvPr/>
        </p:nvSpPr>
        <p:spPr>
          <a:xfrm>
            <a:off x="5248656" y="1874520"/>
            <a:ext cx="1828800" cy="1143000"/>
          </a:xfrm>
          <a:prstGeom prst="roundRect">
            <a:avLst>
              <a:gd name="adj" fmla="val 8000"/>
            </a:avLst>
          </a:prstGeom>
          <a:solidFill>
            <a:schemeClr val="bg2"/>
          </a:solidFill>
          <a:ln w="22225">
            <a:solidFill>
              <a:schemeClr val="accent1"/>
            </a:solidFill>
            <a:prstDash val="solid"/>
          </a:ln>
        </p:spPr>
      </p:sp>
      <p:sp>
        <p:nvSpPr>
          <p:cNvPr id="13" name="a4: Chain 2 label"/>
          <p:cNvSpPr txBox="1"/>
          <p:nvPr/>
        </p:nvSpPr>
        <p:spPr>
          <a:xfrm>
            <a:off x="5248656" y="1874520"/>
            <a:ext cx="1828800" cy="114300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HTTP to 127.0.0.1:11434</a:t>
            </a:r>
            <a:endParaRPr lang="en-US" sz="1400" dirty="0"/>
          </a:p>
          <a:p>
            <a:pPr algn="ctr" indent="0" marL="0">
              <a:buNone/>
            </a:pPr>
            <a:r>
              <a:rPr lang="en-US" sz="1200" dirty="0">
                <a:solidFill>
                  <a:schemeClr val="tx2"/>
                </a:solidFill>
                <a:latin typeface="Calibri" pitchFamily="34" charset="0"/>
                <a:ea typeface="Calibri" pitchFamily="34" charset="-122"/>
                <a:cs typeface="Calibri" pitchFamily="34" charset="-120"/>
              </a:rPr>
              <a:t>no proxy, no redirects</a:t>
            </a:r>
            <a:endParaRPr lang="en-US" sz="1400" dirty="0"/>
          </a:p>
        </p:txBody>
      </p:sp>
      <p:sp>
        <p:nvSpPr>
          <p:cNvPr id="14" name="a5: Chain arrow 2"/>
          <p:cNvSpPr/>
          <p:nvPr/>
        </p:nvSpPr>
        <p:spPr>
          <a:xfrm>
            <a:off x="7077456" y="2450592"/>
            <a:ext cx="384048" cy="0"/>
          </a:xfrm>
          <a:prstGeom prst="line">
            <a:avLst/>
          </a:prstGeom>
          <a:noFill/>
          <a:ln w="19050">
            <a:solidFill>
              <a:srgbClr val="98A2B3"/>
            </a:solidFill>
            <a:prstDash val="solid"/>
            <a:tailEnd type="triangle"/>
          </a:ln>
        </p:spPr>
      </p:sp>
      <p:sp>
        <p:nvSpPr>
          <p:cNvPr id="15" name="a5: Chain 3"/>
          <p:cNvSpPr/>
          <p:nvPr/>
        </p:nvSpPr>
        <p:spPr>
          <a:xfrm>
            <a:off x="7461504" y="1874520"/>
            <a:ext cx="1828800" cy="1143000"/>
          </a:xfrm>
          <a:prstGeom prst="roundRect">
            <a:avLst>
              <a:gd name="adj" fmla="val 8000"/>
            </a:avLst>
          </a:prstGeom>
          <a:solidFill>
            <a:schemeClr val="bg2"/>
          </a:solidFill>
          <a:ln w="22225">
            <a:solidFill>
              <a:schemeClr val="accent3"/>
            </a:solidFill>
            <a:prstDash val="solid"/>
          </a:ln>
        </p:spPr>
      </p:sp>
      <p:sp>
        <p:nvSpPr>
          <p:cNvPr id="16" name="a5: Chain 3 label"/>
          <p:cNvSpPr txBox="1"/>
          <p:nvPr/>
        </p:nvSpPr>
        <p:spPr>
          <a:xfrm>
            <a:off x="7461504" y="1874520"/>
            <a:ext cx="1828800" cy="114300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Ollama</a:t>
            </a:r>
            <a:endParaRPr lang="en-US" sz="1400" dirty="0"/>
          </a:p>
          <a:p>
            <a:pPr algn="ctr" indent="0" marL="0">
              <a:buNone/>
            </a:pPr>
            <a:r>
              <a:rPr lang="en-US" sz="1200" dirty="0">
                <a:solidFill>
                  <a:schemeClr val="tx2"/>
                </a:solidFill>
                <a:latin typeface="Calibri" pitchFamily="34" charset="0"/>
                <a:ea typeface="Calibri" pitchFamily="34" charset="-122"/>
                <a:cs typeface="Calibri" pitchFamily="34" charset="-120"/>
              </a:rPr>
              <a:t>runs the model</a:t>
            </a:r>
            <a:endParaRPr lang="en-US" sz="1400" dirty="0"/>
          </a:p>
        </p:txBody>
      </p:sp>
      <p:sp>
        <p:nvSpPr>
          <p:cNvPr id="17" name="a6: Chain arrow 3"/>
          <p:cNvSpPr/>
          <p:nvPr/>
        </p:nvSpPr>
        <p:spPr>
          <a:xfrm>
            <a:off x="9290304" y="2450592"/>
            <a:ext cx="384048" cy="0"/>
          </a:xfrm>
          <a:prstGeom prst="line">
            <a:avLst/>
          </a:prstGeom>
          <a:noFill/>
          <a:ln w="19050">
            <a:solidFill>
              <a:srgbClr val="98A2B3"/>
            </a:solidFill>
            <a:prstDash val="solid"/>
            <a:tailEnd type="triangle"/>
          </a:ln>
        </p:spPr>
      </p:sp>
      <p:sp>
        <p:nvSpPr>
          <p:cNvPr id="18" name="a6: Chain 4"/>
          <p:cNvSpPr/>
          <p:nvPr/>
        </p:nvSpPr>
        <p:spPr>
          <a:xfrm>
            <a:off x="9674352" y="1874520"/>
            <a:ext cx="1828800" cy="1143000"/>
          </a:xfrm>
          <a:prstGeom prst="roundRect">
            <a:avLst>
              <a:gd name="adj" fmla="val 8000"/>
            </a:avLst>
          </a:prstGeom>
          <a:solidFill>
            <a:schemeClr val="bg2"/>
          </a:solidFill>
          <a:ln w="22225">
            <a:solidFill>
              <a:schemeClr val="accent1"/>
            </a:solidFill>
            <a:prstDash val="solid"/>
          </a:ln>
        </p:spPr>
      </p:sp>
      <p:sp>
        <p:nvSpPr>
          <p:cNvPr id="19" name="a6: Chain 4 label"/>
          <p:cNvSpPr txBox="1"/>
          <p:nvPr/>
        </p:nvSpPr>
        <p:spPr>
          <a:xfrm>
            <a:off x="9674352" y="1874520"/>
            <a:ext cx="1828800" cy="114300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Model weights</a:t>
            </a:r>
            <a:endParaRPr lang="en-US" sz="1400" dirty="0"/>
          </a:p>
          <a:p>
            <a:pPr algn="ctr" indent="0" marL="0">
              <a:buNone/>
            </a:pPr>
            <a:r>
              <a:rPr lang="en-US" sz="1200" dirty="0">
                <a:solidFill>
                  <a:schemeClr val="tx2"/>
                </a:solidFill>
                <a:latin typeface="Calibri" pitchFamily="34" charset="0"/>
                <a:ea typeface="Calibri" pitchFamily="34" charset="-122"/>
                <a:cs typeface="Calibri" pitchFamily="34" charset="-120"/>
              </a:rPr>
              <a:t>on disk, pulled once</a:t>
            </a:r>
            <a:endParaRPr lang="en-US" sz="1400" dirty="0"/>
          </a:p>
        </p:txBody>
      </p:sp>
      <p:sp>
        <p:nvSpPr>
          <p:cNvPr id="20" name="a7: Step 1 badge"/>
          <p:cNvSpPr/>
          <p:nvPr/>
        </p:nvSpPr>
        <p:spPr>
          <a:xfrm>
            <a:off x="1143000" y="3657600"/>
            <a:ext cx="548640" cy="548640"/>
          </a:xfrm>
          <a:prstGeom prst="ellipse">
            <a:avLst/>
          </a:prstGeom>
          <a:solidFill>
            <a:schemeClr val="accent1"/>
          </a:solidFill>
          <a:ln w="12700">
            <a:solidFill>
              <a:srgbClr val="11141B"/>
            </a:solidFill>
            <a:prstDash val="solid"/>
          </a:ln>
        </p:spPr>
      </p:sp>
      <p:sp>
        <p:nvSpPr>
          <p:cNvPr id="21" name="a7: Step 1 number"/>
          <p:cNvSpPr txBox="1"/>
          <p:nvPr/>
        </p:nvSpPr>
        <p:spPr>
          <a:xfrm>
            <a:off x="1143000" y="3657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22" name="a7: Step 1 card"/>
          <p:cNvSpPr/>
          <p:nvPr/>
        </p:nvSpPr>
        <p:spPr>
          <a:xfrm>
            <a:off x="548640" y="4343400"/>
            <a:ext cx="1737360" cy="1691640"/>
          </a:xfrm>
          <a:prstGeom prst="roundRect">
            <a:avLst>
              <a:gd name="adj" fmla="val 6486"/>
            </a:avLst>
          </a:prstGeom>
          <a:solidFill>
            <a:schemeClr val="bg2"/>
          </a:solidFill>
          <a:ln w="12700">
            <a:solidFill>
              <a:schemeClr val="accent6"/>
            </a:solidFill>
            <a:prstDash val="solid"/>
          </a:ln>
        </p:spPr>
      </p:sp>
      <p:sp>
        <p:nvSpPr>
          <p:cNvPr id="23" name="a7: Step 1 head"/>
          <p:cNvSpPr txBox="1"/>
          <p:nvPr/>
        </p:nvSpPr>
        <p:spPr>
          <a:xfrm>
            <a:off x="658368" y="4480560"/>
            <a:ext cx="1517904" cy="36576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Receive</a:t>
            </a:r>
            <a:endParaRPr lang="en-US" sz="1500" dirty="0"/>
          </a:p>
        </p:txBody>
      </p:sp>
      <p:sp>
        <p:nvSpPr>
          <p:cNvPr id="24" name="a7: Step 1 body"/>
          <p:cNvSpPr txBox="1"/>
          <p:nvPr/>
        </p:nvSpPr>
        <p:spPr>
          <a:xfrm>
            <a:off x="658368" y="4892040"/>
            <a:ext cx="1517904" cy="1051560"/>
          </a:xfrm>
          <a:prstGeom prst="rect">
            <a:avLst/>
          </a:prstGeom>
          <a:noFill/>
          <a:ln/>
        </p:spPr>
        <p:txBody>
          <a:bodyPr wrap="square" lIns="0" tIns="0" rIns="0" bIns="0" rtlCol="0" anchor="t"/>
          <a:lstStyle/>
          <a:p>
            <a:pPr algn="ctr" indent="0" marL="0">
              <a:buNone/>
            </a:pPr>
            <a:r>
              <a:rPr lang="en-US" sz="1300" dirty="0">
                <a:solidFill>
                  <a:schemeClr val="tx2"/>
                </a:solidFill>
                <a:latin typeface="Calibri" pitchFamily="34" charset="0"/>
                <a:ea typeface="Calibri" pitchFamily="34" charset="-122"/>
                <a:cs typeface="Calibri" pitchFamily="34" charset="-120"/>
              </a:rPr>
              <a:t>Reject empty or over-long input</a:t>
            </a:r>
            <a:endParaRPr lang="en-US" sz="1300" dirty="0"/>
          </a:p>
        </p:txBody>
      </p:sp>
      <p:sp>
        <p:nvSpPr>
          <p:cNvPr id="25" name="a8: Step 2 badge"/>
          <p:cNvSpPr/>
          <p:nvPr/>
        </p:nvSpPr>
        <p:spPr>
          <a:xfrm>
            <a:off x="3017520" y="3657600"/>
            <a:ext cx="548640" cy="548640"/>
          </a:xfrm>
          <a:prstGeom prst="ellipse">
            <a:avLst/>
          </a:prstGeom>
          <a:solidFill>
            <a:schemeClr val="accent1"/>
          </a:solidFill>
          <a:ln w="12700">
            <a:solidFill>
              <a:srgbClr val="11141B"/>
            </a:solidFill>
            <a:prstDash val="solid"/>
          </a:ln>
        </p:spPr>
      </p:sp>
      <p:sp>
        <p:nvSpPr>
          <p:cNvPr id="26" name="a8: Step 2 number"/>
          <p:cNvSpPr txBox="1"/>
          <p:nvPr/>
        </p:nvSpPr>
        <p:spPr>
          <a:xfrm>
            <a:off x="3017520" y="3657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27" name="a8: Step 2 card"/>
          <p:cNvSpPr/>
          <p:nvPr/>
        </p:nvSpPr>
        <p:spPr>
          <a:xfrm>
            <a:off x="2423160" y="4343400"/>
            <a:ext cx="1737360" cy="1691640"/>
          </a:xfrm>
          <a:prstGeom prst="roundRect">
            <a:avLst>
              <a:gd name="adj" fmla="val 6486"/>
            </a:avLst>
          </a:prstGeom>
          <a:solidFill>
            <a:schemeClr val="bg2"/>
          </a:solidFill>
          <a:ln w="12700">
            <a:solidFill>
              <a:schemeClr val="accent6"/>
            </a:solidFill>
            <a:prstDash val="solid"/>
          </a:ln>
        </p:spPr>
      </p:sp>
      <p:sp>
        <p:nvSpPr>
          <p:cNvPr id="28" name="a8: Step 2 head"/>
          <p:cNvSpPr txBox="1"/>
          <p:nvPr/>
        </p:nvSpPr>
        <p:spPr>
          <a:xfrm>
            <a:off x="2532888" y="4480560"/>
            <a:ext cx="1517904" cy="36576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Ask the model</a:t>
            </a:r>
            <a:endParaRPr lang="en-US" sz="1500" dirty="0"/>
          </a:p>
        </p:txBody>
      </p:sp>
      <p:sp>
        <p:nvSpPr>
          <p:cNvPr id="29" name="a8: Step 2 body"/>
          <p:cNvSpPr txBox="1"/>
          <p:nvPr/>
        </p:nvSpPr>
        <p:spPr>
          <a:xfrm>
            <a:off x="2532888" y="4892040"/>
            <a:ext cx="1517904" cy="1051560"/>
          </a:xfrm>
          <a:prstGeom prst="rect">
            <a:avLst/>
          </a:prstGeom>
          <a:noFill/>
          <a:ln/>
        </p:spPr>
        <p:txBody>
          <a:bodyPr wrap="square" lIns="0" tIns="0" rIns="0" bIns="0" rtlCol="0" anchor="t"/>
          <a:lstStyle/>
          <a:p>
            <a:pPr algn="ctr" indent="0" marL="0">
              <a:buNone/>
            </a:pPr>
            <a:r>
              <a:rPr lang="en-US" sz="1300" dirty="0">
                <a:solidFill>
                  <a:schemeClr val="tx2"/>
                </a:solidFill>
                <a:latin typeface="Calibri" pitchFamily="34" charset="0"/>
                <a:ea typeface="Calibri" pitchFamily="34" charset="-122"/>
                <a:cs typeface="Calibri" pitchFamily="34" charset="-120"/>
              </a:rPr>
              <a:t>Conversation + 8 tool schemas</a:t>
            </a:r>
            <a:endParaRPr lang="en-US" sz="1300" dirty="0"/>
          </a:p>
        </p:txBody>
      </p:sp>
      <p:sp>
        <p:nvSpPr>
          <p:cNvPr id="30" name="a9: Step 3 badge"/>
          <p:cNvSpPr/>
          <p:nvPr/>
        </p:nvSpPr>
        <p:spPr>
          <a:xfrm>
            <a:off x="4892040" y="3657600"/>
            <a:ext cx="548640" cy="548640"/>
          </a:xfrm>
          <a:prstGeom prst="ellipse">
            <a:avLst/>
          </a:prstGeom>
          <a:solidFill>
            <a:schemeClr val="accent1"/>
          </a:solidFill>
          <a:ln w="12700">
            <a:solidFill>
              <a:srgbClr val="11141B"/>
            </a:solidFill>
            <a:prstDash val="solid"/>
          </a:ln>
        </p:spPr>
      </p:sp>
      <p:sp>
        <p:nvSpPr>
          <p:cNvPr id="31" name="a9: Step 3 number"/>
          <p:cNvSpPr txBox="1"/>
          <p:nvPr/>
        </p:nvSpPr>
        <p:spPr>
          <a:xfrm>
            <a:off x="4892040" y="3657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32" name="a9: Step 3 card"/>
          <p:cNvSpPr/>
          <p:nvPr/>
        </p:nvSpPr>
        <p:spPr>
          <a:xfrm>
            <a:off x="4297680" y="4343400"/>
            <a:ext cx="1737360" cy="1691640"/>
          </a:xfrm>
          <a:prstGeom prst="roundRect">
            <a:avLst>
              <a:gd name="adj" fmla="val 6486"/>
            </a:avLst>
          </a:prstGeom>
          <a:solidFill>
            <a:schemeClr val="bg2"/>
          </a:solidFill>
          <a:ln w="12700">
            <a:solidFill>
              <a:schemeClr val="accent6"/>
            </a:solidFill>
            <a:prstDash val="solid"/>
          </a:ln>
        </p:spPr>
      </p:sp>
      <p:sp>
        <p:nvSpPr>
          <p:cNvPr id="33" name="a9: Step 3 head"/>
          <p:cNvSpPr txBox="1"/>
          <p:nvPr/>
        </p:nvSpPr>
        <p:spPr>
          <a:xfrm>
            <a:off x="4407408" y="4480560"/>
            <a:ext cx="1517904" cy="36576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Decide</a:t>
            </a:r>
            <a:endParaRPr lang="en-US" sz="1500" dirty="0"/>
          </a:p>
        </p:txBody>
      </p:sp>
      <p:sp>
        <p:nvSpPr>
          <p:cNvPr id="34" name="a9: Step 3 body"/>
          <p:cNvSpPr txBox="1"/>
          <p:nvPr/>
        </p:nvSpPr>
        <p:spPr>
          <a:xfrm>
            <a:off x="4407408" y="4892040"/>
            <a:ext cx="1517904" cy="1051560"/>
          </a:xfrm>
          <a:prstGeom prst="rect">
            <a:avLst/>
          </a:prstGeom>
          <a:noFill/>
          <a:ln/>
        </p:spPr>
        <p:txBody>
          <a:bodyPr wrap="square" lIns="0" tIns="0" rIns="0" bIns="0" rtlCol="0" anchor="t"/>
          <a:lstStyle/>
          <a:p>
            <a:pPr algn="ctr" indent="0" marL="0">
              <a:buNone/>
            </a:pPr>
            <a:r>
              <a:rPr lang="en-US" sz="1300" dirty="0">
                <a:solidFill>
                  <a:schemeClr val="tx2"/>
                </a:solidFill>
                <a:latin typeface="Calibri" pitchFamily="34" charset="0"/>
                <a:ea typeface="Calibri" pitchFamily="34" charset="-122"/>
                <a:cs typeface="Calibri" pitchFamily="34" charset="-120"/>
              </a:rPr>
              <a:t>No tool call → final answer</a:t>
            </a:r>
            <a:endParaRPr lang="en-US" sz="1300" dirty="0"/>
          </a:p>
        </p:txBody>
      </p:sp>
      <p:sp>
        <p:nvSpPr>
          <p:cNvPr id="35" name="a10: Step 4 badge"/>
          <p:cNvSpPr/>
          <p:nvPr/>
        </p:nvSpPr>
        <p:spPr>
          <a:xfrm>
            <a:off x="6766560" y="3657600"/>
            <a:ext cx="548640" cy="548640"/>
          </a:xfrm>
          <a:prstGeom prst="ellipse">
            <a:avLst/>
          </a:prstGeom>
          <a:solidFill>
            <a:schemeClr val="accent5"/>
          </a:solidFill>
          <a:ln w="12700">
            <a:solidFill>
              <a:srgbClr val="11141B"/>
            </a:solidFill>
            <a:prstDash val="solid"/>
          </a:ln>
        </p:spPr>
      </p:sp>
      <p:sp>
        <p:nvSpPr>
          <p:cNvPr id="36" name="a10: Step 4 number"/>
          <p:cNvSpPr txBox="1"/>
          <p:nvPr/>
        </p:nvSpPr>
        <p:spPr>
          <a:xfrm>
            <a:off x="6766560" y="3657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37" name="a10: Step 4 card"/>
          <p:cNvSpPr/>
          <p:nvPr/>
        </p:nvSpPr>
        <p:spPr>
          <a:xfrm>
            <a:off x="6172200" y="4343400"/>
            <a:ext cx="1737360" cy="1691640"/>
          </a:xfrm>
          <a:prstGeom prst="roundRect">
            <a:avLst>
              <a:gd name="adj" fmla="val 6486"/>
            </a:avLst>
          </a:prstGeom>
          <a:solidFill>
            <a:schemeClr val="bg2"/>
          </a:solidFill>
          <a:ln w="12700">
            <a:solidFill>
              <a:schemeClr val="accent6"/>
            </a:solidFill>
            <a:prstDash val="solid"/>
          </a:ln>
        </p:spPr>
      </p:sp>
      <p:sp>
        <p:nvSpPr>
          <p:cNvPr id="38" name="a10: Step 4 head"/>
          <p:cNvSpPr txBox="1"/>
          <p:nvPr/>
        </p:nvSpPr>
        <p:spPr>
          <a:xfrm>
            <a:off x="6281928" y="4480560"/>
            <a:ext cx="1517904" cy="36576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Validate</a:t>
            </a:r>
            <a:endParaRPr lang="en-US" sz="1500" dirty="0"/>
          </a:p>
        </p:txBody>
      </p:sp>
      <p:sp>
        <p:nvSpPr>
          <p:cNvPr id="39" name="a10: Step 4 body"/>
          <p:cNvSpPr txBox="1"/>
          <p:nvPr/>
        </p:nvSpPr>
        <p:spPr>
          <a:xfrm>
            <a:off x="6281928" y="4892040"/>
            <a:ext cx="1517904" cy="1051560"/>
          </a:xfrm>
          <a:prstGeom prst="rect">
            <a:avLst/>
          </a:prstGeom>
          <a:noFill/>
          <a:ln/>
        </p:spPr>
        <p:txBody>
          <a:bodyPr wrap="square" lIns="0" tIns="0" rIns="0" bIns="0" rtlCol="0" anchor="t"/>
          <a:lstStyle/>
          <a:p>
            <a:pPr algn="ctr" indent="0" marL="0">
              <a:buNone/>
            </a:pPr>
            <a:r>
              <a:rPr lang="en-US" sz="1300" dirty="0">
                <a:solidFill>
                  <a:schemeClr val="tx2"/>
                </a:solidFill>
                <a:latin typeface="Calibri" pitchFamily="34" charset="0"/>
                <a:ea typeface="Calibri" pitchFamily="34" charset="-122"/>
                <a:cs typeface="Calibri" pitchFamily="34" charset="-120"/>
              </a:rPr>
              <a:t>Allow-list, names, types, lengths</a:t>
            </a:r>
            <a:endParaRPr lang="en-US" sz="1300" dirty="0"/>
          </a:p>
        </p:txBody>
      </p:sp>
      <p:sp>
        <p:nvSpPr>
          <p:cNvPr id="40" name="a11: Step 5 badge"/>
          <p:cNvSpPr/>
          <p:nvPr/>
        </p:nvSpPr>
        <p:spPr>
          <a:xfrm>
            <a:off x="8641080" y="3657600"/>
            <a:ext cx="548640" cy="548640"/>
          </a:xfrm>
          <a:prstGeom prst="ellipse">
            <a:avLst/>
          </a:prstGeom>
          <a:solidFill>
            <a:schemeClr val="accent1"/>
          </a:solidFill>
          <a:ln w="12700">
            <a:solidFill>
              <a:srgbClr val="11141B"/>
            </a:solidFill>
            <a:prstDash val="solid"/>
          </a:ln>
        </p:spPr>
      </p:sp>
      <p:sp>
        <p:nvSpPr>
          <p:cNvPr id="41" name="a11: Step 5 number"/>
          <p:cNvSpPr txBox="1"/>
          <p:nvPr/>
        </p:nvSpPr>
        <p:spPr>
          <a:xfrm>
            <a:off x="8641080" y="3657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5</a:t>
            </a:r>
            <a:endParaRPr lang="en-US" sz="1800" dirty="0"/>
          </a:p>
        </p:txBody>
      </p:sp>
      <p:sp>
        <p:nvSpPr>
          <p:cNvPr id="42" name="a11: Step 5 card"/>
          <p:cNvSpPr/>
          <p:nvPr/>
        </p:nvSpPr>
        <p:spPr>
          <a:xfrm>
            <a:off x="8046720" y="4343400"/>
            <a:ext cx="1737360" cy="1691640"/>
          </a:xfrm>
          <a:prstGeom prst="roundRect">
            <a:avLst>
              <a:gd name="adj" fmla="val 6486"/>
            </a:avLst>
          </a:prstGeom>
          <a:solidFill>
            <a:schemeClr val="bg2"/>
          </a:solidFill>
          <a:ln w="12700">
            <a:solidFill>
              <a:schemeClr val="accent6"/>
            </a:solidFill>
            <a:prstDash val="solid"/>
          </a:ln>
        </p:spPr>
      </p:sp>
      <p:sp>
        <p:nvSpPr>
          <p:cNvPr id="43" name="a11: Step 5 head"/>
          <p:cNvSpPr txBox="1"/>
          <p:nvPr/>
        </p:nvSpPr>
        <p:spPr>
          <a:xfrm>
            <a:off x="8156448" y="4480560"/>
            <a:ext cx="1517904" cy="36576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Execute</a:t>
            </a:r>
            <a:endParaRPr lang="en-US" sz="1500" dirty="0"/>
          </a:p>
        </p:txBody>
      </p:sp>
      <p:sp>
        <p:nvSpPr>
          <p:cNvPr id="44" name="a11: Step 5 body"/>
          <p:cNvSpPr txBox="1"/>
          <p:nvPr/>
        </p:nvSpPr>
        <p:spPr>
          <a:xfrm>
            <a:off x="8156448" y="4892040"/>
            <a:ext cx="1517904" cy="1051560"/>
          </a:xfrm>
          <a:prstGeom prst="rect">
            <a:avLst/>
          </a:prstGeom>
          <a:noFill/>
          <a:ln/>
        </p:spPr>
        <p:txBody>
          <a:bodyPr wrap="square" lIns="0" tIns="0" rIns="0" bIns="0" rtlCol="0" anchor="t"/>
          <a:lstStyle/>
          <a:p>
            <a:pPr algn="ctr" indent="0" marL="0">
              <a:buNone/>
            </a:pPr>
            <a:r>
              <a:rPr lang="en-US" sz="1300" dirty="0">
                <a:solidFill>
                  <a:schemeClr val="tx2"/>
                </a:solidFill>
                <a:latin typeface="Calibri" pitchFamily="34" charset="0"/>
                <a:ea typeface="Calibri" pitchFamily="34" charset="-122"/>
                <a:cs typeface="Calibri" pitchFamily="34" charset="-120"/>
              </a:rPr>
              <a:t>Deterministic Python tool</a:t>
            </a:r>
            <a:endParaRPr lang="en-US" sz="1300" dirty="0"/>
          </a:p>
        </p:txBody>
      </p:sp>
      <p:sp>
        <p:nvSpPr>
          <p:cNvPr id="45" name="a12: Step 6 badge"/>
          <p:cNvSpPr/>
          <p:nvPr/>
        </p:nvSpPr>
        <p:spPr>
          <a:xfrm>
            <a:off x="10515600" y="3657600"/>
            <a:ext cx="548640" cy="548640"/>
          </a:xfrm>
          <a:prstGeom prst="ellipse">
            <a:avLst/>
          </a:prstGeom>
          <a:solidFill>
            <a:schemeClr val="accent1"/>
          </a:solidFill>
          <a:ln w="12700">
            <a:solidFill>
              <a:srgbClr val="11141B"/>
            </a:solidFill>
            <a:prstDash val="solid"/>
          </a:ln>
        </p:spPr>
      </p:sp>
      <p:sp>
        <p:nvSpPr>
          <p:cNvPr id="46" name="a12: Step 6 number"/>
          <p:cNvSpPr txBox="1"/>
          <p:nvPr/>
        </p:nvSpPr>
        <p:spPr>
          <a:xfrm>
            <a:off x="10515600" y="3657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6</a:t>
            </a:r>
            <a:endParaRPr lang="en-US" sz="1800" dirty="0"/>
          </a:p>
        </p:txBody>
      </p:sp>
      <p:sp>
        <p:nvSpPr>
          <p:cNvPr id="47" name="a12: Step 6 card"/>
          <p:cNvSpPr/>
          <p:nvPr/>
        </p:nvSpPr>
        <p:spPr>
          <a:xfrm>
            <a:off x="9921240" y="4343400"/>
            <a:ext cx="1737360" cy="1691640"/>
          </a:xfrm>
          <a:prstGeom prst="roundRect">
            <a:avLst>
              <a:gd name="adj" fmla="val 6486"/>
            </a:avLst>
          </a:prstGeom>
          <a:solidFill>
            <a:schemeClr val="bg2"/>
          </a:solidFill>
          <a:ln w="12700">
            <a:solidFill>
              <a:schemeClr val="accent6"/>
            </a:solidFill>
            <a:prstDash val="solid"/>
          </a:ln>
        </p:spPr>
      </p:sp>
      <p:sp>
        <p:nvSpPr>
          <p:cNvPr id="48" name="a12: Step 6 head"/>
          <p:cNvSpPr txBox="1"/>
          <p:nvPr/>
        </p:nvSpPr>
        <p:spPr>
          <a:xfrm>
            <a:off x="10030968" y="4480560"/>
            <a:ext cx="1517904" cy="36576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Observe &amp; stop</a:t>
            </a:r>
            <a:endParaRPr lang="en-US" sz="1500" dirty="0"/>
          </a:p>
        </p:txBody>
      </p:sp>
      <p:sp>
        <p:nvSpPr>
          <p:cNvPr id="49" name="a12: Step 6 body"/>
          <p:cNvSpPr txBox="1"/>
          <p:nvPr/>
        </p:nvSpPr>
        <p:spPr>
          <a:xfrm>
            <a:off x="10030968" y="4892040"/>
            <a:ext cx="1517904" cy="1051560"/>
          </a:xfrm>
          <a:prstGeom prst="rect">
            <a:avLst/>
          </a:prstGeom>
          <a:noFill/>
          <a:ln/>
        </p:spPr>
        <p:txBody>
          <a:bodyPr wrap="square" lIns="0" tIns="0" rIns="0" bIns="0" rtlCol="0" anchor="t"/>
          <a:lstStyle/>
          <a:p>
            <a:pPr algn="ctr" indent="0" marL="0">
              <a:buNone/>
            </a:pPr>
            <a:r>
              <a:rPr lang="en-US" sz="1300" dirty="0">
                <a:solidFill>
                  <a:schemeClr val="tx2"/>
                </a:solidFill>
                <a:latin typeface="Calibri" pitchFamily="34" charset="0"/>
                <a:ea typeface="Calibri" pitchFamily="34" charset="-122"/>
                <a:cs typeface="Calibri" pitchFamily="34" charset="-120"/>
              </a:rPr>
              <a:t>Answer, 6 calls, or repeats</a:t>
            </a:r>
            <a:endParaRPr lang="en-US" sz="1300" dirty="0"/>
          </a:p>
        </p:txBody>
      </p:sp>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8" fill="hold">
                            <p:stCondLst>
                              <p:cond delay="35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28" fill="hold">
                            <p:stCondLst>
                              <p:cond delay="700"/>
                            </p:stCondLst>
                            <p:childTnLst>
                              <p:par>
                                <p:cTn id="19" presetID="1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3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par>
                          <p:cTn id="48" fill="hold">
                            <p:stCondLst>
                              <p:cond delay="1400"/>
                            </p:stCondLst>
                            <p:childTnLst>
                              <p:par>
                                <p:cTn id="39" presetID="10"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par>
                          <p:cTn id="58" fill="hold">
                            <p:stCondLst>
                              <p:cond delay="1750"/>
                            </p:stCondLst>
                            <p:childTnLst>
                              <p:par>
                                <p:cTn id="49" presetID="10" presetClass="entr" presetSubtype="0" fill="hold" grpId="0" nodeType="after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childTnLst>
                          </p:cTn>
                        </p:par>
                        <p:par>
                          <p:cTn id="74" fill="hold">
                            <p:stCondLst>
                              <p:cond delay="2100"/>
                            </p:stCondLst>
                            <p:childTnLst>
                              <p:par>
                                <p:cTn id="59" presetID="10" presetClass="entr" presetSubtype="0" fill="hold" grpId="0"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childTnLst>
                          </p:cTn>
                        </p:par>
                        <p:par>
                          <p:cTn id="90" fill="hold">
                            <p:stCondLst>
                              <p:cond delay="2450"/>
                            </p:stCondLst>
                            <p:childTnLst>
                              <p:par>
                                <p:cTn id="75" presetID="10" presetClass="entr" presetSubtype="0" fill="hold" grpId="0" nodeType="after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childTnLst>
                          </p:cTn>
                        </p:par>
                        <p:par>
                          <p:cTn id="106" fill="hold">
                            <p:stCondLst>
                              <p:cond delay="2800"/>
                            </p:stCondLst>
                            <p:childTnLst>
                              <p:par>
                                <p:cTn id="91" presetID="10" presetClass="entr" presetSubtype="0" fill="hold" grpId="0" nodeType="after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00"/>
                                        <p:tgtEl>
                                          <p:spTgt spid="3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fade">
                                      <p:cBhvr>
                                        <p:cTn id="96" dur="500"/>
                                        <p:tgtEl>
                                          <p:spTgt spid="31"/>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500"/>
                                        <p:tgtEl>
                                          <p:spTgt spid="32"/>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500"/>
                                        <p:tgtEl>
                                          <p:spTgt spid="33"/>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fade">
                                      <p:cBhvr>
                                        <p:cTn id="105" dur="500"/>
                                        <p:tgtEl>
                                          <p:spTgt spid="34"/>
                                        </p:tgtEl>
                                      </p:cBhvr>
                                    </p:animEffect>
                                  </p:childTnLst>
                                </p:cTn>
                              </p:par>
                            </p:childTnLst>
                          </p:cTn>
                        </p:par>
                        <p:par>
                          <p:cTn id="122" fill="hold">
                            <p:stCondLst>
                              <p:cond delay="3150"/>
                            </p:stCondLst>
                            <p:childTnLst>
                              <p:par>
                                <p:cTn id="107" presetID="10" presetClass="entr" presetSubtype="0" fill="hold" grpId="0" nodeType="after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500"/>
                                        <p:tgtEl>
                                          <p:spTgt spid="3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500"/>
                                        <p:tgtEl>
                                          <p:spTgt spid="36"/>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5" dur="500"/>
                                        <p:tgtEl>
                                          <p:spTgt spid="37"/>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fade">
                                      <p:cBhvr>
                                        <p:cTn id="118" dur="500"/>
                                        <p:tgtEl>
                                          <p:spTgt spid="38"/>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39"/>
                                        </p:tgtEl>
                                        <p:attrNameLst>
                                          <p:attrName>style.visibility</p:attrName>
                                        </p:attrNameLst>
                                      </p:cBhvr>
                                      <p:to>
                                        <p:strVal val="visible"/>
                                      </p:to>
                                    </p:set>
                                    <p:animEffect transition="in" filter="fade">
                                      <p:cBhvr>
                                        <p:cTn id="121" dur="500"/>
                                        <p:tgtEl>
                                          <p:spTgt spid="39"/>
                                        </p:tgtEl>
                                      </p:cBhvr>
                                    </p:animEffect>
                                  </p:childTnLst>
                                </p:cTn>
                              </p:par>
                            </p:childTnLst>
                          </p:cTn>
                        </p:par>
                        <p:par>
                          <p:cTn id="138" fill="hold">
                            <p:stCondLst>
                              <p:cond delay="3500"/>
                            </p:stCondLst>
                            <p:childTnLst>
                              <p:par>
                                <p:cTn id="123" presetID="10" presetClass="entr" presetSubtype="0" fill="hold" grpId="0" nodeType="afterEffect">
                                  <p:stCondLst>
                                    <p:cond delay="0"/>
                                  </p:stCondLst>
                                  <p:childTnLst>
                                    <p:set>
                                      <p:cBhvr>
                                        <p:cTn id="124" dur="1" fill="hold">
                                          <p:stCondLst>
                                            <p:cond delay="0"/>
                                          </p:stCondLst>
                                        </p:cTn>
                                        <p:tgtEl>
                                          <p:spTgt spid="40"/>
                                        </p:tgtEl>
                                        <p:attrNameLst>
                                          <p:attrName>style.visibility</p:attrName>
                                        </p:attrNameLst>
                                      </p:cBhvr>
                                      <p:to>
                                        <p:strVal val="visible"/>
                                      </p:to>
                                    </p:set>
                                    <p:animEffect transition="in" filter="fade">
                                      <p:cBhvr>
                                        <p:cTn id="125" dur="500"/>
                                        <p:tgtEl>
                                          <p:spTgt spid="40"/>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1"/>
                                        </p:tgtEl>
                                        <p:attrNameLst>
                                          <p:attrName>style.visibility</p:attrName>
                                        </p:attrNameLst>
                                      </p:cBhvr>
                                      <p:to>
                                        <p:strVal val="visible"/>
                                      </p:to>
                                    </p:set>
                                    <p:animEffect transition="in" filter="fade">
                                      <p:cBhvr>
                                        <p:cTn id="128" dur="500"/>
                                        <p:tgtEl>
                                          <p:spTgt spid="41"/>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2"/>
                                        </p:tgtEl>
                                        <p:attrNameLst>
                                          <p:attrName>style.visibility</p:attrName>
                                        </p:attrNameLst>
                                      </p:cBhvr>
                                      <p:to>
                                        <p:strVal val="visible"/>
                                      </p:to>
                                    </p:set>
                                    <p:animEffect transition="in" filter="fade">
                                      <p:cBhvr>
                                        <p:cTn id="131" dur="500"/>
                                        <p:tgtEl>
                                          <p:spTgt spid="42"/>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3"/>
                                        </p:tgtEl>
                                        <p:attrNameLst>
                                          <p:attrName>style.visibility</p:attrName>
                                        </p:attrNameLst>
                                      </p:cBhvr>
                                      <p:to>
                                        <p:strVal val="visible"/>
                                      </p:to>
                                    </p:set>
                                    <p:animEffect transition="in" filter="fade">
                                      <p:cBhvr>
                                        <p:cTn id="134" dur="500"/>
                                        <p:tgtEl>
                                          <p:spTgt spid="43"/>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4"/>
                                        </p:tgtEl>
                                        <p:attrNameLst>
                                          <p:attrName>style.visibility</p:attrName>
                                        </p:attrNameLst>
                                      </p:cBhvr>
                                      <p:to>
                                        <p:strVal val="visible"/>
                                      </p:to>
                                    </p:set>
                                    <p:animEffect transition="in" filter="fade">
                                      <p:cBhvr>
                                        <p:cTn id="137" dur="500"/>
                                        <p:tgtEl>
                                          <p:spTgt spid="44"/>
                                        </p:tgtEl>
                                      </p:cBhvr>
                                    </p:animEffect>
                                  </p:childTnLst>
                                </p:cTn>
                              </p:par>
                            </p:childTnLst>
                          </p:cTn>
                        </p:par>
                        <p:par>
                          <p:cTn id="154" fill="hold">
                            <p:stCondLst>
                              <p:cond delay="3850"/>
                            </p:stCondLst>
                            <p:childTnLst>
                              <p:par>
                                <p:cTn id="139" presetID="10" presetClass="entr" presetSubtype="0" fill="hold" grpId="0" nodeType="afterEffect">
                                  <p:stCondLst>
                                    <p:cond delay="0"/>
                                  </p:stCondLst>
                                  <p:childTnLst>
                                    <p:set>
                                      <p:cBhvr>
                                        <p:cTn id="140" dur="1" fill="hold">
                                          <p:stCondLst>
                                            <p:cond delay="0"/>
                                          </p:stCondLst>
                                        </p:cTn>
                                        <p:tgtEl>
                                          <p:spTgt spid="45"/>
                                        </p:tgtEl>
                                        <p:attrNameLst>
                                          <p:attrName>style.visibility</p:attrName>
                                        </p:attrNameLst>
                                      </p:cBhvr>
                                      <p:to>
                                        <p:strVal val="visible"/>
                                      </p:to>
                                    </p:set>
                                    <p:animEffect transition="in" filter="fade">
                                      <p:cBhvr>
                                        <p:cTn id="141" dur="500"/>
                                        <p:tgtEl>
                                          <p:spTgt spid="45"/>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46"/>
                                        </p:tgtEl>
                                        <p:attrNameLst>
                                          <p:attrName>style.visibility</p:attrName>
                                        </p:attrNameLst>
                                      </p:cBhvr>
                                      <p:to>
                                        <p:strVal val="visible"/>
                                      </p:to>
                                    </p:set>
                                    <p:animEffect transition="in" filter="fade">
                                      <p:cBhvr>
                                        <p:cTn id="144" dur="500"/>
                                        <p:tgtEl>
                                          <p:spTgt spid="46"/>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47"/>
                                        </p:tgtEl>
                                        <p:attrNameLst>
                                          <p:attrName>style.visibility</p:attrName>
                                        </p:attrNameLst>
                                      </p:cBhvr>
                                      <p:to>
                                        <p:strVal val="visible"/>
                                      </p:to>
                                    </p:set>
                                    <p:animEffect transition="in" filter="fade">
                                      <p:cBhvr>
                                        <p:cTn id="147" dur="500"/>
                                        <p:tgtEl>
                                          <p:spTgt spid="47"/>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48"/>
                                        </p:tgtEl>
                                        <p:attrNameLst>
                                          <p:attrName>style.visibility</p:attrName>
                                        </p:attrNameLst>
                                      </p:cBhvr>
                                      <p:to>
                                        <p:strVal val="visible"/>
                                      </p:to>
                                    </p:set>
                                    <p:animEffect transition="in" filter="fade">
                                      <p:cBhvr>
                                        <p:cTn id="150" dur="500"/>
                                        <p:tgtEl>
                                          <p:spTgt spid="48"/>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49"/>
                                        </p:tgtEl>
                                        <p:attrNameLst>
                                          <p:attrName>style.visibility</p:attrName>
                                        </p:attrNameLst>
                                      </p:cBhvr>
                                      <p:to>
                                        <p:strVal val="visible"/>
                                      </p:to>
                                    </p:set>
                                    <p:animEffect transition="in" filter="fade">
                                      <p:cBhvr>
                                        <p:cTn id="15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Model integration: what the code actually does</a:t>
            </a:r>
            <a:endParaRPr lang="en-US" sz="3200" dirty="0"/>
          </a:p>
        </p:txBody>
      </p:sp>
      <p:sp>
        <p:nvSpPr>
          <p:cNvPr id="3" name="Section navigation"/>
          <p:cNvSpPr txBox="1"/>
          <p:nvPr/>
        </p:nvSpPr>
        <p:spPr>
          <a:xfrm>
            <a:off x="4206240" y="6400800"/>
            <a:ext cx="6766560" cy="274320"/>
          </a:xfrm>
          <a:prstGeom prst="rect">
            <a:avLst/>
          </a:prstGeom>
          <a:noFill/>
          <a:ln/>
        </p:spPr>
        <p:txBody>
          <a:bodyPr wrap="square" lIns="0" tIns="0" rIns="0" bIns="0" rtlCol="0" anchor="t"/>
          <a:lstStyle/>
          <a:p>
            <a:pPr algn="r" indent="0" marL="0">
              <a:buNone/>
            </a:pPr>
            <a:r>
              <a:rPr lang="en-US" sz="1000" u="sng" dirty="0">
                <a:solidFill>
                  <a:schemeClr val="tx2"/>
                </a:solidFill>
                <a:latin typeface="Calibri" pitchFamily="34" charset="0"/>
                <a:ea typeface="Calibri" pitchFamily="34" charset="-122"/>
                <a:cs typeface="Calibri" pitchFamily="34" charset="-120"/>
                <a:hlinkClick r:id="rId1" action="ppaction://hlinksldjump" tooltip="Go to Home">
                  <a:extLst>
                    <a:ext uri="{A12FA001-AC4F-418D-AE19-62706E023703}">
                      <ahyp:hlinkClr xmlns:ahyp="http://schemas.microsoft.com/office/drawing/2018/hyperlinkcolor" val="tx"/>
                    </a:ext>
                  </a:extLst>
                </a:hlinkClick>
              </a:rPr>
              <a:t>Home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2" action="ppaction://hlinksldjump" tooltip="Go to Architecture">
                  <a:extLst>
                    <a:ext uri="{A12FA001-AC4F-418D-AE19-62706E023703}">
                      <ahyp:hlinkClr xmlns:ahyp="http://schemas.microsoft.com/office/drawing/2018/hyperlinkcolor" val="tx"/>
                    </a:ext>
                  </a:extLst>
                </a:hlinkClick>
              </a:rPr>
              <a:t>Architecture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3" action="ppaction://hlinksldjump" tooltip="Go to Pipeline">
                  <a:extLst>
                    <a:ext uri="{A12FA001-AC4F-418D-AE19-62706E023703}">
                      <ahyp:hlinkClr xmlns:ahyp="http://schemas.microsoft.com/office/drawing/2018/hyperlinkcolor" val="tx"/>
                    </a:ext>
                  </a:extLst>
                </a:hlinkClick>
              </a:rPr>
              <a:t>Pipeline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4" action="ppaction://hlinksldjump" tooltip="Go to Security">
                  <a:extLst>
                    <a:ext uri="{A12FA001-AC4F-418D-AE19-62706E023703}">
                      <ahyp:hlinkClr xmlns:ahyp="http://schemas.microsoft.com/office/drawing/2018/hyperlinkcolor" val="tx"/>
                    </a:ext>
                  </a:extLst>
                </a:hlinkClick>
              </a:rPr>
              <a:t>Security</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5" action="ppaction://hlinksldjump" tooltip="Go to Results">
                  <a:extLst>
                    <a:ext uri="{A12FA001-AC4F-418D-AE19-62706E023703}">
                      <ahyp:hlinkClr xmlns:ahyp="http://schemas.microsoft.com/office/drawing/2018/hyperlinkcolor" val="tx"/>
                    </a:ext>
                  </a:extLst>
                </a:hlinkClick>
              </a:rPr>
              <a:t>Results</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6" action="ppaction://hlinksldjump" tooltip="Go to Contact">
                  <a:extLst>
                    <a:ext uri="{A12FA001-AC4F-418D-AE19-62706E023703}">
                      <ahyp:hlinkClr xmlns:ahyp="http://schemas.microsoft.com/office/drawing/2018/hyperlinkcolor" val="tx"/>
                    </a:ext>
                  </a:extLst>
                </a:hlinkClick>
              </a:rPr>
              <a:t>Contact</a:t>
            </a:r>
            <a:endParaRPr lang="en-US" sz="1000" dirty="0"/>
          </a:p>
        </p:txBody>
      </p:sp>
      <p:sp>
        <p:nvSpPr>
          <p:cNvPr id="4" name="a1: Client card"/>
          <p:cNvSpPr/>
          <p:nvPr/>
        </p:nvSpPr>
        <p:spPr>
          <a:xfrm>
            <a:off x="548640" y="1325880"/>
            <a:ext cx="5394960" cy="2743200"/>
          </a:xfrm>
          <a:prstGeom prst="roundRect">
            <a:avLst>
              <a:gd name="adj" fmla="val 4000"/>
            </a:avLst>
          </a:prstGeom>
          <a:solidFill>
            <a:schemeClr val="bg2"/>
          </a:solidFill>
          <a:ln w="12700">
            <a:solidFill>
              <a:schemeClr val="accent3"/>
            </a:solidFill>
            <a:prstDash val="solid"/>
          </a:ln>
        </p:spPr>
      </p:sp>
      <p:sp>
        <p:nvSpPr>
          <p:cNvPr id="5" name="a1: Client text"/>
          <p:cNvSpPr txBox="1"/>
          <p:nvPr/>
        </p:nvSpPr>
        <p:spPr>
          <a:xfrm>
            <a:off x="777240" y="1508760"/>
            <a:ext cx="4983480" cy="2468880"/>
          </a:xfrm>
          <a:prstGeom prst="rect">
            <a:avLst/>
          </a:prstGeom>
          <a:noFill/>
          <a:ln/>
        </p:spPr>
        <p:txBody>
          <a:bodyPr wrap="square" lIns="0" tIns="0" rIns="0" bIns="0" rtlCol="0" anchor="t"/>
          <a:lstStyle/>
          <a:p>
            <a:pPr indent="0" marL="0">
              <a:spcAft>
                <a:spcPts val="600"/>
              </a:spcAft>
              <a:buNone/>
            </a:pPr>
            <a:r>
              <a:rPr lang="en-US" sz="1600" b="1" dirty="0">
                <a:solidFill>
                  <a:schemeClr val="accent3"/>
                </a:solidFill>
                <a:latin typeface="Calibri" pitchFamily="34" charset="0"/>
                <a:ea typeface="Calibri" pitchFamily="34" charset="-122"/>
                <a:cs typeface="Calibri" pitchFamily="34" charset="-120"/>
              </a:rPr>
              <a:t>Ollama client (llm.py)</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host 127.0.0.1:11434 · timeout 180 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trust_env=False (proxies ignored), follow_redirects=False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chat(model, messages, tools=8 schemas, think, num_predict=2048)</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Health check: /api/version (≥ 0.9.0) and /api/show capabilities (tools, thinking)</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Model list from /api/tags, cloud models excluded</a:t>
            </a:r>
            <a:endParaRPr lang="en-US" sz="1400" dirty="0"/>
          </a:p>
        </p:txBody>
      </p:sp>
      <p:sp>
        <p:nvSpPr>
          <p:cNvPr id="6" name="a2: Schema card"/>
          <p:cNvSpPr/>
          <p:nvPr/>
        </p:nvSpPr>
        <p:spPr>
          <a:xfrm>
            <a:off x="548640" y="4251960"/>
            <a:ext cx="5394960" cy="1828800"/>
          </a:xfrm>
          <a:prstGeom prst="roundRect">
            <a:avLst>
              <a:gd name="adj" fmla="val 6000"/>
            </a:avLst>
          </a:prstGeom>
          <a:solidFill>
            <a:schemeClr val="bg2"/>
          </a:solidFill>
          <a:ln w="12700">
            <a:solidFill>
              <a:schemeClr val="accent6"/>
            </a:solidFill>
            <a:prstDash val="solid"/>
          </a:ln>
        </p:spPr>
      </p:sp>
      <p:sp>
        <p:nvSpPr>
          <p:cNvPr id="7" name="a2: Schema code"/>
          <p:cNvSpPr txBox="1"/>
          <p:nvPr/>
        </p:nvSpPr>
        <p:spPr>
          <a:xfrm>
            <a:off x="777240" y="4389120"/>
            <a:ext cx="4983480" cy="16002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{"type": "function", "function":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"name": "calculator",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"parameters": {"type": "object",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"properties": {"expression": {"type": "string"}},</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"required": ["expression"]}}}</a:t>
            </a:r>
            <a:endParaRPr lang="en-US" sz="1200" dirty="0"/>
          </a:p>
        </p:txBody>
      </p:sp>
      <p:graphicFrame>
        <p:nvGraphicFramePr>
          <p:cNvPr id="7" name="a3: Error table"/>
          <p:cNvGraphicFramePr>
            <a:graphicFrameLocks noGrp="1"/>
          </p:cNvGraphicFramePr>
          <p:nvPr>
            <p:extLst>
              <p:ext uri="{D42A27DB-BD31-4B8C-83A1-F6EECF244321}">
                <p14:modId xmlns:p14="http://schemas.microsoft.com/office/powerpoint/2010/main" val="1579011935"/>
              </p:ext>
            </p:extLst>
          </p:nvPr>
        </p:nvGraphicFramePr>
        <p:xfrm>
          <a:off x="6217920" y="1325880"/>
          <a:ext cx="5394960" cy="914400"/>
        </p:xfrm>
        <a:graphic>
          <a:graphicData uri="http://schemas.openxmlformats.org/drawingml/2006/table">
            <a:tbl>
              <a:tblPr/>
              <a:tblGrid>
                <a:gridCol w="1965960"/>
                <a:gridCol w="1783080"/>
                <a:gridCol w="1645920"/>
              </a:tblGrid>
              <a:tr h="47548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Low-level failure</a:t>
                      </a:r>
                      <a:endParaRPr lang="en-US" sz="130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AgentForge error</a:t>
                      </a:r>
                      <a:endParaRPr lang="en-US" sz="130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User hint</a:t>
                      </a:r>
                      <a:endParaRPr lang="en-US" sz="130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chemeClr val="bg2"/>
                    </a:solidFill>
                  </a:tcPr>
                </a:tc>
              </a:tr>
              <a:tr h="47548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ConnectionError / transport</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LLMUnavailableError</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Start Ollama</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r>
              <a:tr h="47548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httpx timeout</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LLMTimeoutError</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Retry / raise timeout</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r>
              <a:tr h="47548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HTTP 404 model not found</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ModelNotFoundError</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ollama pull &lt;model&gt;</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r>
              <a:tr h="47548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“does not support tools”</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ModelCapabilityError</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Use a tool-capable model</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r>
              <a:tr h="47548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Bad JSON / schema mismatch</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LLMResponseError</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Malformed reply reported</a:t>
                      </a:r>
                      <a:endParaRPr lang="en-US" sz="1250" dirty="0">
                        <a:latin typeface="Calibri" charset="0"/>
                        <a:ea typeface="Calibri" charset="0"/>
                        <a:cs typeface="Calibri" charset="0"/>
                      </a:endParaRPr>
                    </a:p>
                  </a:txBody>
                  <a:tcPr marL="54864" marR="54864" marT="54864" marB="54864" anchor="ctr">
                    <a:lnL w="9525" cap="flat" cmpd="sng" algn="ctr">
                      <a:solidFill>
                        <a:srgbClr val="2A3140"/>
                      </a:solidFill>
                      <a:prstDash val="solid"/>
                      <a:round/>
                      <a:headEnd type="none" w="med" len="med"/>
                      <a:tailEnd type="none" w="med" len="med"/>
                    </a:lnL>
                    <a:lnR w="9525" cap="flat" cmpd="sng" algn="ctr">
                      <a:solidFill>
                        <a:srgbClr val="2A3140"/>
                      </a:solidFill>
                      <a:prstDash val="solid"/>
                      <a:round/>
                      <a:headEnd type="none" w="med" len="med"/>
                      <a:tailEnd type="none" w="med" len="med"/>
                    </a:lnR>
                    <a:lnT w="9525" cap="flat" cmpd="sng" algn="ctr">
                      <a:solidFill>
                        <a:srgbClr val="2A3140"/>
                      </a:solidFill>
                      <a:prstDash val="solid"/>
                      <a:round/>
                      <a:headEnd type="none" w="med" len="med"/>
                      <a:tailEnd type="none" w="med" len="med"/>
                    </a:lnT>
                    <a:lnB w="9525" cap="flat" cmpd="sng" algn="ctr">
                      <a:solidFill>
                        <a:srgbClr val="2A3140"/>
                      </a:solidFill>
                      <a:prstDash val="solid"/>
                      <a:round/>
                      <a:headEnd type="none" w="med" len="med"/>
                      <a:tailEnd type="none" w="med" len="med"/>
                    </a:lnB>
                    <a:solidFill>
                      <a:srgbClr val="11141B"/>
                    </a:solidFill>
                  </a:tcPr>
                </a:tc>
              </a:tr>
            </a:tbl>
          </a:graphicData>
        </a:graphic>
      </p:graphicFrame>
      <p:sp>
        <p:nvSpPr>
          <p:cNvPr id="9" name="a4: No fallback"/>
          <p:cNvSpPr txBox="1"/>
          <p:nvPr/>
        </p:nvSpPr>
        <p:spPr>
          <a:xfrm>
            <a:off x="6217920" y="4434840"/>
            <a:ext cx="5394960" cy="822960"/>
          </a:xfrm>
          <a:prstGeom prst="rect">
            <a:avLst/>
          </a:prstGeom>
          <a:noFill/>
          <a:ln/>
        </p:spPr>
        <p:txBody>
          <a:bodyPr wrap="square" lIns="0" tIns="0" rIns="0" bIns="0" rtlCol="0" anchor="t"/>
          <a:lstStyle/>
          <a:p>
            <a:pPr indent="0" marL="0">
              <a:buNone/>
            </a:pPr>
            <a:r>
              <a:rPr lang="en-US" sz="1500" b="1" dirty="0">
                <a:solidFill>
                  <a:schemeClr val="accent4"/>
                </a:solidFill>
                <a:latin typeface="Calibri" pitchFamily="34" charset="0"/>
                <a:ea typeface="Calibri" pitchFamily="34" charset="-122"/>
                <a:cs typeface="Calibri" pitchFamily="34" charset="-120"/>
              </a:rPr>
              <a:t>No fallback: </a:t>
            </a:r>
            <a:pPr indent="0" marL="0">
              <a:buNone/>
            </a:pPr>
            <a:r>
              <a:rPr lang="en-US" sz="1500" dirty="0">
                <a:solidFill>
                  <a:schemeClr val="tx1"/>
                </a:solidFill>
                <a:latin typeface="Calibri" pitchFamily="34" charset="0"/>
                <a:ea typeface="Calibri" pitchFamily="34" charset="-122"/>
                <a:cs typeface="Calibri" pitchFamily="34" charset="-120"/>
              </a:rPr>
              <a:t>every failure becomes a specific error with a hint; nothing is ever sent to another service.</a:t>
            </a:r>
            <a:endParaRPr lang="en-US" sz="1500" dirty="0"/>
          </a:p>
        </p:txBody>
      </p:sp>
      <p:sp>
        <p:nvSpPr>
          <p:cNvPr id="10" name="a4: Native note"/>
          <p:cNvSpPr txBox="1"/>
          <p:nvPr/>
        </p:nvSpPr>
        <p:spPr>
          <a:xfrm>
            <a:off x="6217920" y="5257800"/>
            <a:ext cx="5394960"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Tool calling is native (structured tool_calls from Ollama). Whether a model uses tools reliably must be checked with that model; --check reports its advertised capabilities.</a:t>
            </a:r>
            <a:endParaRPr lang="en-US" sz="1300" dirty="0"/>
          </a:p>
        </p:txBody>
      </p:sp>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8" fill="hold">
                            <p:stCondLst>
                              <p:cond delay="35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22" fill="hold">
                            <p:stCondLst>
                              <p:cond delay="7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par>
                          <p:cTn id="29" fill="hold">
                            <p:stCondLst>
                              <p:cond delay="1050"/>
                            </p:stCondLst>
                            <p:childTnLst>
                              <p:par>
                                <p:cTn id="23" presetID="10"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Privacy and security boundaries</a:t>
            </a:r>
            <a:endParaRPr lang="en-US" sz="3200" dirty="0"/>
          </a:p>
        </p:txBody>
      </p:sp>
      <p:sp>
        <p:nvSpPr>
          <p:cNvPr id="3" name="Section navigation"/>
          <p:cNvSpPr txBox="1"/>
          <p:nvPr/>
        </p:nvSpPr>
        <p:spPr>
          <a:xfrm>
            <a:off x="4206240" y="6400800"/>
            <a:ext cx="6766560" cy="274320"/>
          </a:xfrm>
          <a:prstGeom prst="rect">
            <a:avLst/>
          </a:prstGeom>
          <a:noFill/>
          <a:ln/>
        </p:spPr>
        <p:txBody>
          <a:bodyPr wrap="square" lIns="0" tIns="0" rIns="0" bIns="0" rtlCol="0" anchor="t"/>
          <a:lstStyle/>
          <a:p>
            <a:pPr algn="r" indent="0" marL="0">
              <a:buNone/>
            </a:pPr>
            <a:r>
              <a:rPr lang="en-US" sz="1000" u="sng" dirty="0">
                <a:solidFill>
                  <a:schemeClr val="tx2"/>
                </a:solidFill>
                <a:latin typeface="Calibri" pitchFamily="34" charset="0"/>
                <a:ea typeface="Calibri" pitchFamily="34" charset="-122"/>
                <a:cs typeface="Calibri" pitchFamily="34" charset="-120"/>
                <a:hlinkClick r:id="rId1" action="ppaction://hlinksldjump" tooltip="Go to Home">
                  <a:extLst>
                    <a:ext uri="{A12FA001-AC4F-418D-AE19-62706E023703}">
                      <ahyp:hlinkClr xmlns:ahyp="http://schemas.microsoft.com/office/drawing/2018/hyperlinkcolor" val="tx"/>
                    </a:ext>
                  </a:extLst>
                </a:hlinkClick>
              </a:rPr>
              <a:t>Home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2" action="ppaction://hlinksldjump" tooltip="Go to Architecture">
                  <a:extLst>
                    <a:ext uri="{A12FA001-AC4F-418D-AE19-62706E023703}">
                      <ahyp:hlinkClr xmlns:ahyp="http://schemas.microsoft.com/office/drawing/2018/hyperlinkcolor" val="tx"/>
                    </a:ext>
                  </a:extLst>
                </a:hlinkClick>
              </a:rPr>
              <a:t>Architecture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3" action="ppaction://hlinksldjump" tooltip="Go to Pipeline">
                  <a:extLst>
                    <a:ext uri="{A12FA001-AC4F-418D-AE19-62706E023703}">
                      <ahyp:hlinkClr xmlns:ahyp="http://schemas.microsoft.com/office/drawing/2018/hyperlinkcolor" val="tx"/>
                    </a:ext>
                  </a:extLst>
                </a:hlinkClick>
              </a:rPr>
              <a:t>Pipeline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b="1" dirty="0">
                <a:solidFill>
                  <a:schemeClr val="accent1"/>
                </a:solidFill>
                <a:latin typeface="Calibri" pitchFamily="34" charset="0"/>
                <a:ea typeface="Calibri" pitchFamily="34" charset="-122"/>
                <a:cs typeface="Calibri" pitchFamily="34" charset="-120"/>
              </a:rPr>
              <a:t>Security</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4" action="ppaction://hlinksldjump" tooltip="Go to Results">
                  <a:extLst>
                    <a:ext uri="{A12FA001-AC4F-418D-AE19-62706E023703}">
                      <ahyp:hlinkClr xmlns:ahyp="http://schemas.microsoft.com/office/drawing/2018/hyperlinkcolor" val="tx"/>
                    </a:ext>
                  </a:extLst>
                </a:hlinkClick>
              </a:rPr>
              <a:t>Results</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5" action="ppaction://hlinksldjump" tooltip="Go to Contact">
                  <a:extLst>
                    <a:ext uri="{A12FA001-AC4F-418D-AE19-62706E023703}">
                      <ahyp:hlinkClr xmlns:ahyp="http://schemas.microsoft.com/office/drawing/2018/hyperlinkcolor" val="tx"/>
                    </a:ext>
                  </a:extLst>
                </a:hlinkClick>
              </a:rPr>
              <a:t>Contact</a:t>
            </a:r>
            <a:endParaRPr lang="en-US" sz="1000" dirty="0"/>
          </a:p>
        </p:txBody>
      </p:sp>
      <p:sp>
        <p:nvSpPr>
          <p:cNvPr id="4" name="a1: Computer boundary"/>
          <p:cNvSpPr/>
          <p:nvPr/>
        </p:nvSpPr>
        <p:spPr>
          <a:xfrm>
            <a:off x="548640" y="1325880"/>
            <a:ext cx="6766560" cy="4754880"/>
          </a:xfrm>
          <a:prstGeom prst="roundRect">
            <a:avLst>
              <a:gd name="adj" fmla="val 2885"/>
            </a:avLst>
          </a:prstGeom>
          <a:solidFill>
            <a:schemeClr val="accent3">
              <a:alpha val="5000"/>
            </a:schemeClr>
          </a:solidFill>
          <a:ln w="15875">
            <a:solidFill>
              <a:schemeClr val="accent3"/>
            </a:solidFill>
            <a:prstDash val="dash"/>
          </a:ln>
        </p:spPr>
      </p:sp>
      <p:sp>
        <p:nvSpPr>
          <p:cNvPr id="5" name="a1: Computer label"/>
          <p:cNvSpPr txBox="1"/>
          <p:nvPr/>
        </p:nvSpPr>
        <p:spPr>
          <a:xfrm>
            <a:off x="777240" y="1417320"/>
            <a:ext cx="3657600" cy="32004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Your computer</a:t>
            </a:r>
            <a:endParaRPr lang="en-US" sz="1300" dirty="0"/>
          </a:p>
        </p:txBody>
      </p:sp>
      <p:sp>
        <p:nvSpPr>
          <p:cNvPr id="6" name="a2: Browser"/>
          <p:cNvSpPr/>
          <p:nvPr/>
        </p:nvSpPr>
        <p:spPr>
          <a:xfrm>
            <a:off x="822960" y="1874520"/>
            <a:ext cx="2011680" cy="731520"/>
          </a:xfrm>
          <a:prstGeom prst="roundRect">
            <a:avLst>
              <a:gd name="adj" fmla="val 12500"/>
            </a:avLst>
          </a:prstGeom>
          <a:solidFill>
            <a:schemeClr val="bg2"/>
          </a:solidFill>
          <a:ln w="22225">
            <a:solidFill>
              <a:schemeClr val="accent1"/>
            </a:solidFill>
            <a:prstDash val="solid"/>
          </a:ln>
        </p:spPr>
      </p:sp>
      <p:sp>
        <p:nvSpPr>
          <p:cNvPr id="7" name="a2: Browser label"/>
          <p:cNvSpPr txBox="1"/>
          <p:nvPr/>
        </p:nvSpPr>
        <p:spPr>
          <a:xfrm>
            <a:off x="822960" y="1874520"/>
            <a:ext cx="2011680" cy="73152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Browser</a:t>
            </a:r>
            <a:endParaRPr lang="en-US" sz="1400" dirty="0"/>
          </a:p>
          <a:p>
            <a:pPr algn="ctr" indent="0" marL="0">
              <a:buNone/>
            </a:pPr>
            <a:r>
              <a:rPr lang="en-US" sz="1200" dirty="0">
                <a:solidFill>
                  <a:schemeClr val="tx2"/>
                </a:solidFill>
                <a:latin typeface="Calibri" pitchFamily="34" charset="0"/>
                <a:ea typeface="Calibri" pitchFamily="34" charset="-122"/>
                <a:cs typeface="Calibri" pitchFamily="34" charset="-120"/>
              </a:rPr>
              <a:t>web UI on 127.0.0.1</a:t>
            </a:r>
            <a:endParaRPr lang="en-US" sz="1400" dirty="0"/>
          </a:p>
        </p:txBody>
      </p:sp>
      <p:sp>
        <p:nvSpPr>
          <p:cNvPr id="8" name="a2: Terminal"/>
          <p:cNvSpPr/>
          <p:nvPr/>
        </p:nvSpPr>
        <p:spPr>
          <a:xfrm>
            <a:off x="822960" y="2788920"/>
            <a:ext cx="2011680" cy="731520"/>
          </a:xfrm>
          <a:prstGeom prst="roundRect">
            <a:avLst>
              <a:gd name="adj" fmla="val 12500"/>
            </a:avLst>
          </a:prstGeom>
          <a:solidFill>
            <a:schemeClr val="bg2"/>
          </a:solidFill>
          <a:ln w="22225">
            <a:solidFill>
              <a:schemeClr val="accent1"/>
            </a:solidFill>
            <a:prstDash val="solid"/>
          </a:ln>
        </p:spPr>
      </p:sp>
      <p:sp>
        <p:nvSpPr>
          <p:cNvPr id="9" name="a2: Terminal label"/>
          <p:cNvSpPr txBox="1"/>
          <p:nvPr/>
        </p:nvSpPr>
        <p:spPr>
          <a:xfrm>
            <a:off x="822960" y="2788920"/>
            <a:ext cx="2011680" cy="73152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Terminal</a:t>
            </a:r>
            <a:endParaRPr lang="en-US" sz="1400" dirty="0"/>
          </a:p>
          <a:p>
            <a:pPr algn="ctr" indent="0" marL="0">
              <a:buNone/>
            </a:pPr>
            <a:r>
              <a:rPr lang="en-US" sz="1200" dirty="0">
                <a:solidFill>
                  <a:schemeClr val="tx2"/>
                </a:solidFill>
                <a:latin typeface="Calibri" pitchFamily="34" charset="0"/>
                <a:ea typeface="Calibri" pitchFamily="34" charset="-122"/>
                <a:cs typeface="Calibri" pitchFamily="34" charset="-120"/>
              </a:rPr>
              <a:t>agentforge</a:t>
            </a:r>
            <a:endParaRPr lang="en-US" sz="1400" dirty="0"/>
          </a:p>
        </p:txBody>
      </p:sp>
      <p:sp>
        <p:nvSpPr>
          <p:cNvPr id="10" name="a3: AF"/>
          <p:cNvSpPr/>
          <p:nvPr/>
        </p:nvSpPr>
        <p:spPr>
          <a:xfrm>
            <a:off x="3200400" y="2286000"/>
            <a:ext cx="1828800" cy="822960"/>
          </a:xfrm>
          <a:prstGeom prst="roundRect">
            <a:avLst>
              <a:gd name="adj" fmla="val 11111"/>
            </a:avLst>
          </a:prstGeom>
          <a:solidFill>
            <a:schemeClr val="bg2"/>
          </a:solidFill>
          <a:ln w="22225">
            <a:solidFill>
              <a:schemeClr val="accent2"/>
            </a:solidFill>
            <a:prstDash val="solid"/>
          </a:ln>
        </p:spPr>
      </p:sp>
      <p:sp>
        <p:nvSpPr>
          <p:cNvPr id="11" name="a3: AF label"/>
          <p:cNvSpPr txBox="1"/>
          <p:nvPr/>
        </p:nvSpPr>
        <p:spPr>
          <a:xfrm>
            <a:off x="3200400" y="2286000"/>
            <a:ext cx="1828800" cy="82296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AgentForge</a:t>
            </a:r>
            <a:endParaRPr lang="en-US" sz="1400" dirty="0"/>
          </a:p>
          <a:p>
            <a:pPr algn="ctr" indent="0" marL="0">
              <a:buNone/>
            </a:pPr>
            <a:r>
              <a:rPr lang="en-US" sz="1200" dirty="0">
                <a:solidFill>
                  <a:schemeClr val="tx2"/>
                </a:solidFill>
                <a:latin typeface="Calibri" pitchFamily="34" charset="0"/>
                <a:ea typeface="Calibri" pitchFamily="34" charset="-122"/>
                <a:cs typeface="Calibri" pitchFamily="34" charset="-120"/>
              </a:rPr>
              <a:t>agent + tools</a:t>
            </a:r>
            <a:endParaRPr lang="en-US" sz="1400" dirty="0"/>
          </a:p>
        </p:txBody>
      </p:sp>
      <p:sp>
        <p:nvSpPr>
          <p:cNvPr id="12" name="a3: Ollama"/>
          <p:cNvSpPr/>
          <p:nvPr/>
        </p:nvSpPr>
        <p:spPr>
          <a:xfrm>
            <a:off x="5303520" y="2286000"/>
            <a:ext cx="1783080" cy="822960"/>
          </a:xfrm>
          <a:prstGeom prst="roundRect">
            <a:avLst>
              <a:gd name="adj" fmla="val 11111"/>
            </a:avLst>
          </a:prstGeom>
          <a:solidFill>
            <a:schemeClr val="bg2"/>
          </a:solidFill>
          <a:ln w="22225">
            <a:solidFill>
              <a:schemeClr val="accent3"/>
            </a:solidFill>
            <a:prstDash val="solid"/>
          </a:ln>
        </p:spPr>
      </p:sp>
      <p:sp>
        <p:nvSpPr>
          <p:cNvPr id="13" name="a3: Ollama label"/>
          <p:cNvSpPr txBox="1"/>
          <p:nvPr/>
        </p:nvSpPr>
        <p:spPr>
          <a:xfrm>
            <a:off x="5303520" y="2286000"/>
            <a:ext cx="1783080" cy="82296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Ollama</a:t>
            </a:r>
            <a:endParaRPr lang="en-US" sz="1400" dirty="0"/>
          </a:p>
          <a:p>
            <a:pPr algn="ctr" indent="0" marL="0">
              <a:buNone/>
            </a:pPr>
            <a:r>
              <a:rPr lang="en-US" sz="1200" dirty="0">
                <a:solidFill>
                  <a:schemeClr val="tx2"/>
                </a:solidFill>
                <a:latin typeface="Calibri" pitchFamily="34" charset="0"/>
                <a:ea typeface="Calibri" pitchFamily="34" charset="-122"/>
                <a:cs typeface="Calibri" pitchFamily="34" charset="-120"/>
              </a:rPr>
              <a:t>local model</a:t>
            </a:r>
            <a:endParaRPr lang="en-US" sz="1400" dirty="0"/>
          </a:p>
        </p:txBody>
      </p:sp>
      <p:sp>
        <p:nvSpPr>
          <p:cNvPr id="14" name="a3: Notes"/>
          <p:cNvSpPr/>
          <p:nvPr/>
        </p:nvSpPr>
        <p:spPr>
          <a:xfrm>
            <a:off x="3200400" y="3429000"/>
            <a:ext cx="1828800" cy="731520"/>
          </a:xfrm>
          <a:prstGeom prst="roundRect">
            <a:avLst>
              <a:gd name="adj" fmla="val 12500"/>
            </a:avLst>
          </a:prstGeom>
          <a:solidFill>
            <a:schemeClr val="bg2"/>
          </a:solidFill>
          <a:ln w="22225">
            <a:solidFill>
              <a:schemeClr val="accent5"/>
            </a:solidFill>
            <a:prstDash val="solid"/>
          </a:ln>
        </p:spPr>
      </p:sp>
      <p:sp>
        <p:nvSpPr>
          <p:cNvPr id="15" name="a3: Notes label"/>
          <p:cNvSpPr txBox="1"/>
          <p:nvPr/>
        </p:nvSpPr>
        <p:spPr>
          <a:xfrm>
            <a:off x="3200400" y="3429000"/>
            <a:ext cx="1828800" cy="73152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data/notes</a:t>
            </a:r>
            <a:endParaRPr lang="en-US" sz="1400" dirty="0"/>
          </a:p>
          <a:p>
            <a:pPr algn="ctr" indent="0" marL="0">
              <a:buNone/>
            </a:pPr>
            <a:r>
              <a:rPr lang="en-US" sz="1200" dirty="0">
                <a:solidFill>
                  <a:schemeClr val="tx2"/>
                </a:solidFill>
                <a:latin typeface="Calibri" pitchFamily="34" charset="0"/>
                <a:ea typeface="Calibri" pitchFamily="34" charset="-122"/>
                <a:cs typeface="Calibri" pitchFamily="34" charset="-120"/>
              </a:rPr>
              <a:t>plain text</a:t>
            </a:r>
            <a:endParaRPr lang="en-US" sz="1400" dirty="0"/>
          </a:p>
        </p:txBody>
      </p:sp>
      <p:sp>
        <p:nvSpPr>
          <p:cNvPr id="16" name="a4: Tool boundary"/>
          <p:cNvSpPr txBox="1"/>
          <p:nvPr/>
        </p:nvSpPr>
        <p:spPr>
          <a:xfrm>
            <a:off x="822960" y="4389120"/>
            <a:ext cx="6309360" cy="1554480"/>
          </a:xfrm>
          <a:prstGeom prst="rect">
            <a:avLst/>
          </a:prstGeom>
          <a:noFill/>
          <a:ln/>
        </p:spPr>
        <p:txBody>
          <a:bodyPr wrap="square" lIns="0" tIns="0" rIns="0" bIns="0" rtlCol="0" anchor="t"/>
          <a:lstStyle/>
          <a:p>
            <a:pPr indent="0" marL="0">
              <a:spcAft>
                <a:spcPts val="400"/>
              </a:spcAft>
              <a:buNone/>
            </a:pPr>
            <a:r>
              <a:rPr lang="en-US" sz="1350" b="1" dirty="0">
                <a:solidFill>
                  <a:schemeClr val="accent5"/>
                </a:solidFill>
                <a:latin typeface="Calibri" pitchFamily="34" charset="0"/>
                <a:ea typeface="Calibri" pitchFamily="34" charset="-122"/>
                <a:cs typeface="Calibri" pitchFamily="34" charset="-120"/>
              </a:rPr>
              <a:t>Tool boundary</a:t>
            </a:r>
            <a:endParaRPr lang="en-US" sz="1350" dirty="0"/>
          </a:p>
          <a:p>
            <a:pPr marL="342900" indent="-342900">
              <a:spcAft>
                <a:spcPts val="400"/>
              </a:spcAft>
              <a:buSzPct val="100000"/>
              <a:buChar char="•"/>
            </a:pPr>
            <a:r>
              <a:rPr lang="en-US" sz="1350" dirty="0">
                <a:solidFill>
                  <a:schemeClr val="tx1"/>
                </a:solidFill>
                <a:latin typeface="Calibri" pitchFamily="34" charset="0"/>
                <a:ea typeface="Calibri" pitchFamily="34" charset="-122"/>
                <a:cs typeface="Calibri" pitchFamily="34" charset="-120"/>
              </a:rPr>
              <a:t>8 allow-listed tools; no code or shell execution</a:t>
            </a:r>
            <a:endParaRPr lang="en-US" sz="1350" dirty="0"/>
          </a:p>
          <a:p>
            <a:pPr marL="342900" indent="-342900">
              <a:spcAft>
                <a:spcPts val="400"/>
              </a:spcAft>
              <a:buSzPct val="100000"/>
              <a:buChar char="•"/>
            </a:pPr>
            <a:r>
              <a:rPr lang="en-US" sz="1350" dirty="0">
                <a:solidFill>
                  <a:schemeClr val="tx1"/>
                </a:solidFill>
                <a:latin typeface="Calibri" pitchFamily="34" charset="0"/>
                <a:ea typeface="Calibri" pitchFamily="34" charset="-122"/>
                <a:cs typeface="Calibri" pitchFamily="34" charset="-120"/>
              </a:rPr>
              <a:t>Calculator walks an AST, never eval; size limits</a:t>
            </a:r>
            <a:endParaRPr lang="en-US" sz="1350" dirty="0"/>
          </a:p>
          <a:p>
            <a:pPr marL="342900" indent="-342900">
              <a:spcAft>
                <a:spcPts val="400"/>
              </a:spcAft>
              <a:buSzPct val="100000"/>
              <a:buChar char="•"/>
            </a:pPr>
            <a:r>
              <a:rPr lang="en-US" sz="1350" dirty="0">
                <a:solidFill>
                  <a:schemeClr val="tx1"/>
                </a:solidFill>
                <a:latin typeface="Calibri" pitchFamily="34" charset="0"/>
                <a:ea typeface="Calibri" pitchFamily="34" charset="-122"/>
                <a:cs typeface="Calibri" pitchFamily="34" charset="-120"/>
              </a:rPr>
              <a:t>Note names cannot escape data/notes; no overwrite</a:t>
            </a:r>
            <a:endParaRPr lang="en-US" sz="1350" dirty="0"/>
          </a:p>
        </p:txBody>
      </p:sp>
      <p:sp>
        <p:nvSpPr>
          <p:cNvPr id="17" name="a5: Blocked head"/>
          <p:cNvSpPr txBox="1"/>
          <p:nvPr/>
        </p:nvSpPr>
        <p:spPr>
          <a:xfrm>
            <a:off x="7635240" y="1371600"/>
            <a:ext cx="3931920" cy="365760"/>
          </a:xfrm>
          <a:prstGeom prst="rect">
            <a:avLst/>
          </a:prstGeom>
          <a:noFill/>
          <a:ln/>
        </p:spPr>
        <p:txBody>
          <a:bodyPr wrap="square" lIns="0" tIns="0" rIns="0" bIns="0" rtlCol="0" anchor="t"/>
          <a:lstStyle/>
          <a:p>
            <a:pPr indent="0" marL="0">
              <a:buNone/>
            </a:pPr>
            <a:r>
              <a:rPr lang="en-US" sz="1600" b="1" dirty="0">
                <a:solidFill>
                  <a:schemeClr val="accent4"/>
                </a:solidFill>
                <a:latin typeface="Calibri" pitchFamily="34" charset="0"/>
                <a:ea typeface="Calibri" pitchFamily="34" charset="-122"/>
                <a:cs typeface="Calibri" pitchFamily="34" charset="-120"/>
              </a:rPr>
              <a:t>Blocked at the boundary</a:t>
            </a:r>
            <a:endParaRPr lang="en-US" sz="1600" dirty="0"/>
          </a:p>
        </p:txBody>
      </p:sp>
      <p:sp>
        <p:nvSpPr>
          <p:cNvPr id="18" name="a6: Blocked 0"/>
          <p:cNvSpPr/>
          <p:nvPr/>
        </p:nvSpPr>
        <p:spPr>
          <a:xfrm>
            <a:off x="7635240" y="1828800"/>
            <a:ext cx="3977640" cy="731520"/>
          </a:xfrm>
          <a:prstGeom prst="roundRect">
            <a:avLst>
              <a:gd name="adj" fmla="val 15000"/>
            </a:avLst>
          </a:prstGeom>
          <a:solidFill>
            <a:schemeClr val="bg2"/>
          </a:solidFill>
          <a:ln w="12700">
            <a:solidFill>
              <a:schemeClr val="accent6"/>
            </a:solidFill>
            <a:prstDash val="solid"/>
          </a:ln>
        </p:spPr>
      </p:sp>
      <p:pic>
        <p:nvPicPr>
          <p:cNvPr id="19" name="a6: Blocked 0 icon" descr="">    </p:cNvPr>
          <p:cNvPicPr>
            <a:picLocks noChangeAspect="1"/>
          </p:cNvPicPr>
          <p:nvPr/>
        </p:nvPicPr>
        <p:blipFill>
          <a:blip r:embed="rId6"/>
          <a:stretch>
            <a:fillRect/>
          </a:stretch>
        </p:blipFill>
        <p:spPr>
          <a:xfrm>
            <a:off x="7772400" y="2011680"/>
            <a:ext cx="365760" cy="365760"/>
          </a:xfrm>
          <a:prstGeom prst="rect">
            <a:avLst/>
          </a:prstGeom>
        </p:spPr>
      </p:pic>
      <p:sp>
        <p:nvSpPr>
          <p:cNvPr id="20" name="a6: Blocked 0 text"/>
          <p:cNvSpPr txBox="1"/>
          <p:nvPr/>
        </p:nvSpPr>
        <p:spPr>
          <a:xfrm>
            <a:off x="8275320" y="1901952"/>
            <a:ext cx="3246120" cy="603504"/>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Remote Ollama URL  </a:t>
            </a:r>
            <a:pPr indent="0" marL="0">
              <a:buNone/>
            </a:pPr>
            <a:r>
              <a:rPr lang="en-US" sz="1300" dirty="0">
                <a:solidFill>
                  <a:schemeClr val="tx2"/>
                </a:solidFill>
                <a:latin typeface="Calibri" pitchFamily="34" charset="0"/>
                <a:ea typeface="Calibri" pitchFamily="34" charset="-122"/>
                <a:cs typeface="Calibri" pitchFamily="34" charset="-120"/>
              </a:rPr>
              <a:t>refused unless explicitly allowed</a:t>
            </a:r>
            <a:endParaRPr lang="en-US" sz="1300" dirty="0"/>
          </a:p>
        </p:txBody>
      </p:sp>
      <p:sp>
        <p:nvSpPr>
          <p:cNvPr id="21" name="a7: Blocked 1"/>
          <p:cNvSpPr/>
          <p:nvPr/>
        </p:nvSpPr>
        <p:spPr>
          <a:xfrm>
            <a:off x="7635240" y="2679192"/>
            <a:ext cx="3977640" cy="731520"/>
          </a:xfrm>
          <a:prstGeom prst="roundRect">
            <a:avLst>
              <a:gd name="adj" fmla="val 15000"/>
            </a:avLst>
          </a:prstGeom>
          <a:solidFill>
            <a:schemeClr val="bg2"/>
          </a:solidFill>
          <a:ln w="12700">
            <a:solidFill>
              <a:schemeClr val="accent6"/>
            </a:solidFill>
            <a:prstDash val="solid"/>
          </a:ln>
        </p:spPr>
      </p:sp>
      <p:pic>
        <p:nvPicPr>
          <p:cNvPr id="22" name="a7: Blocked 1 icon" descr="">    </p:cNvPr>
          <p:cNvPicPr>
            <a:picLocks noChangeAspect="1"/>
          </p:cNvPicPr>
          <p:nvPr/>
        </p:nvPicPr>
        <p:blipFill>
          <a:blip r:embed="rId7"/>
          <a:stretch>
            <a:fillRect/>
          </a:stretch>
        </p:blipFill>
        <p:spPr>
          <a:xfrm>
            <a:off x="7772400" y="2862072"/>
            <a:ext cx="365760" cy="365760"/>
          </a:xfrm>
          <a:prstGeom prst="rect">
            <a:avLst/>
          </a:prstGeom>
        </p:spPr>
      </p:pic>
      <p:sp>
        <p:nvSpPr>
          <p:cNvPr id="23" name="a7: Blocked 1 text"/>
          <p:cNvSpPr txBox="1"/>
          <p:nvPr/>
        </p:nvSpPr>
        <p:spPr>
          <a:xfrm>
            <a:off x="8275320" y="2752344"/>
            <a:ext cx="3246120" cy="603504"/>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*-cloud models  </a:t>
            </a:r>
            <a:pPr indent="0" marL="0">
              <a:buNone/>
            </a:pPr>
            <a:r>
              <a:rPr lang="en-US" sz="1300" dirty="0">
                <a:solidFill>
                  <a:schemeClr val="tx2"/>
                </a:solidFill>
                <a:latin typeface="Calibri" pitchFamily="34" charset="0"/>
                <a:ea typeface="Calibri" pitchFamily="34" charset="-122"/>
                <a:cs typeface="Calibri" pitchFamily="34" charset="-120"/>
              </a:rPr>
              <a:t>refused</a:t>
            </a:r>
            <a:endParaRPr lang="en-US" sz="1300" dirty="0"/>
          </a:p>
        </p:txBody>
      </p:sp>
      <p:sp>
        <p:nvSpPr>
          <p:cNvPr id="24" name="a8: Blocked 2"/>
          <p:cNvSpPr/>
          <p:nvPr/>
        </p:nvSpPr>
        <p:spPr>
          <a:xfrm>
            <a:off x="7635240" y="3529584"/>
            <a:ext cx="3977640" cy="731520"/>
          </a:xfrm>
          <a:prstGeom prst="roundRect">
            <a:avLst>
              <a:gd name="adj" fmla="val 15000"/>
            </a:avLst>
          </a:prstGeom>
          <a:solidFill>
            <a:schemeClr val="bg2"/>
          </a:solidFill>
          <a:ln w="12700">
            <a:solidFill>
              <a:schemeClr val="accent6"/>
            </a:solidFill>
            <a:prstDash val="solid"/>
          </a:ln>
        </p:spPr>
      </p:sp>
      <p:pic>
        <p:nvPicPr>
          <p:cNvPr id="25" name="a8: Blocked 2 icon" descr="">    </p:cNvPr>
          <p:cNvPicPr>
            <a:picLocks noChangeAspect="1"/>
          </p:cNvPicPr>
          <p:nvPr/>
        </p:nvPicPr>
        <p:blipFill>
          <a:blip r:embed="rId8"/>
          <a:stretch>
            <a:fillRect/>
          </a:stretch>
        </p:blipFill>
        <p:spPr>
          <a:xfrm>
            <a:off x="7772400" y="3712464"/>
            <a:ext cx="365760" cy="365760"/>
          </a:xfrm>
          <a:prstGeom prst="rect">
            <a:avLst/>
          </a:prstGeom>
        </p:spPr>
      </p:pic>
      <p:sp>
        <p:nvSpPr>
          <p:cNvPr id="26" name="a8: Blocked 2 text"/>
          <p:cNvSpPr txBox="1"/>
          <p:nvPr/>
        </p:nvSpPr>
        <p:spPr>
          <a:xfrm>
            <a:off x="8275320" y="3602736"/>
            <a:ext cx="3246120" cy="603504"/>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Proxy variables  </a:t>
            </a:r>
            <a:pPr indent="0" marL="0">
              <a:buNone/>
            </a:pPr>
            <a:r>
              <a:rPr lang="en-US" sz="1300" dirty="0">
                <a:solidFill>
                  <a:schemeClr val="tx2"/>
                </a:solidFill>
                <a:latin typeface="Calibri" pitchFamily="34" charset="0"/>
                <a:ea typeface="Calibri" pitchFamily="34" charset="-122"/>
                <a:cs typeface="Calibri" pitchFamily="34" charset="-120"/>
              </a:rPr>
              <a:t>ignored for model traffic</a:t>
            </a:r>
            <a:endParaRPr lang="en-US" sz="1300" dirty="0"/>
          </a:p>
        </p:txBody>
      </p:sp>
      <p:sp>
        <p:nvSpPr>
          <p:cNvPr id="27" name="a9: Blocked 3"/>
          <p:cNvSpPr/>
          <p:nvPr/>
        </p:nvSpPr>
        <p:spPr>
          <a:xfrm>
            <a:off x="7635240" y="4379976"/>
            <a:ext cx="3977640" cy="731520"/>
          </a:xfrm>
          <a:prstGeom prst="roundRect">
            <a:avLst>
              <a:gd name="adj" fmla="val 15000"/>
            </a:avLst>
          </a:prstGeom>
          <a:solidFill>
            <a:schemeClr val="bg2"/>
          </a:solidFill>
          <a:ln w="12700">
            <a:solidFill>
              <a:schemeClr val="accent6"/>
            </a:solidFill>
            <a:prstDash val="solid"/>
          </a:ln>
        </p:spPr>
      </p:sp>
      <p:pic>
        <p:nvPicPr>
          <p:cNvPr id="28" name="a9: Blocked 3 icon" descr="">    </p:cNvPr>
          <p:cNvPicPr>
            <a:picLocks noChangeAspect="1"/>
          </p:cNvPicPr>
          <p:nvPr/>
        </p:nvPicPr>
        <p:blipFill>
          <a:blip r:embed="rId9"/>
          <a:stretch>
            <a:fillRect/>
          </a:stretch>
        </p:blipFill>
        <p:spPr>
          <a:xfrm>
            <a:off x="7772400" y="4562856"/>
            <a:ext cx="365760" cy="365760"/>
          </a:xfrm>
          <a:prstGeom prst="rect">
            <a:avLst/>
          </a:prstGeom>
        </p:spPr>
      </p:pic>
      <p:sp>
        <p:nvSpPr>
          <p:cNvPr id="29" name="a9: Blocked 3 text"/>
          <p:cNvSpPr txBox="1"/>
          <p:nvPr/>
        </p:nvSpPr>
        <p:spPr>
          <a:xfrm>
            <a:off x="8275320" y="4453128"/>
            <a:ext cx="3246120" cy="603504"/>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Cloud fallback  </a:t>
            </a:r>
            <a:pPr indent="0" marL="0">
              <a:buNone/>
            </a:pPr>
            <a:r>
              <a:rPr lang="en-US" sz="1300" dirty="0">
                <a:solidFill>
                  <a:schemeClr val="tx2"/>
                </a:solidFill>
                <a:latin typeface="Calibri" pitchFamily="34" charset="0"/>
                <a:ea typeface="Calibri" pitchFamily="34" charset="-122"/>
                <a:cs typeface="Calibri" pitchFamily="34" charset="-120"/>
              </a:rPr>
              <a:t>none exists</a:t>
            </a:r>
            <a:endParaRPr lang="en-US" sz="1300" dirty="0"/>
          </a:p>
        </p:txBody>
      </p:sp>
      <p:sp>
        <p:nvSpPr>
          <p:cNvPr id="30" name="a10: Blocked 4"/>
          <p:cNvSpPr/>
          <p:nvPr/>
        </p:nvSpPr>
        <p:spPr>
          <a:xfrm>
            <a:off x="7635240" y="5230368"/>
            <a:ext cx="3977640" cy="731520"/>
          </a:xfrm>
          <a:prstGeom prst="roundRect">
            <a:avLst>
              <a:gd name="adj" fmla="val 15000"/>
            </a:avLst>
          </a:prstGeom>
          <a:solidFill>
            <a:schemeClr val="bg2"/>
          </a:solidFill>
          <a:ln w="12700">
            <a:solidFill>
              <a:schemeClr val="accent6"/>
            </a:solidFill>
            <a:prstDash val="solid"/>
          </a:ln>
        </p:spPr>
      </p:sp>
      <p:pic>
        <p:nvPicPr>
          <p:cNvPr id="31" name="a10: Blocked 4 icon" descr="">    </p:cNvPr>
          <p:cNvPicPr>
            <a:picLocks noChangeAspect="1"/>
          </p:cNvPicPr>
          <p:nvPr/>
        </p:nvPicPr>
        <p:blipFill>
          <a:blip r:embed="rId10"/>
          <a:stretch>
            <a:fillRect/>
          </a:stretch>
        </p:blipFill>
        <p:spPr>
          <a:xfrm>
            <a:off x="7772400" y="5413248"/>
            <a:ext cx="365760" cy="365760"/>
          </a:xfrm>
          <a:prstGeom prst="rect">
            <a:avLst/>
          </a:prstGeom>
        </p:spPr>
      </p:pic>
      <p:sp>
        <p:nvSpPr>
          <p:cNvPr id="32" name="a10: Blocked 4 text"/>
          <p:cNvSpPr txBox="1"/>
          <p:nvPr/>
        </p:nvSpPr>
        <p:spPr>
          <a:xfrm>
            <a:off x="8275320" y="5303520"/>
            <a:ext cx="3246120" cy="603504"/>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Web UI requests  </a:t>
            </a:r>
            <a:pPr indent="0" marL="0">
              <a:buNone/>
            </a:pPr>
            <a:r>
              <a:rPr lang="en-US" sz="1300" dirty="0">
                <a:solidFill>
                  <a:schemeClr val="tx2"/>
                </a:solidFill>
                <a:latin typeface="Calibri" pitchFamily="34" charset="0"/>
                <a:ea typeface="Calibri" pitchFamily="34" charset="-122"/>
                <a:cs typeface="Calibri" pitchFamily="34" charset="-120"/>
              </a:rPr>
              <a:t>foreign Host / Origin → 403; JSON ≤ 64 KB; strict CSP</a:t>
            </a:r>
            <a:endParaRPr lang="en-US" sz="1300" dirty="0"/>
          </a:p>
        </p:txBody>
      </p:sp>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24" fill="hold">
                            <p:stCondLst>
                              <p:cond delay="35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43" fill="hold">
                            <p:stCondLst>
                              <p:cond delay="700"/>
                            </p:stCondLst>
                            <p:childTnLst>
                              <p:par>
                                <p:cTn id="25" presetID="10"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par>
                          <p:cTn id="47" fill="hold">
                            <p:stCondLst>
                              <p:cond delay="1050"/>
                            </p:stCondLst>
                            <p:childTnLst>
                              <p:par>
                                <p:cTn id="44" presetID="10" presetClass="entr" presetSubtype="0"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par>
                          <p:cTn id="51" fill="hold">
                            <p:stCondLst>
                              <p:cond delay="1400"/>
                            </p:stCondLst>
                            <p:childTnLst>
                              <p:par>
                                <p:cTn id="48" presetID="10" presetClass="entr" presetSubtype="0"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par>
                          <p:cTn id="61" fill="hold">
                            <p:stCondLst>
                              <p:cond delay="1750"/>
                            </p:stCondLst>
                            <p:childTnLst>
                              <p:par>
                                <p:cTn id="52" presetID="10" presetClass="entr" presetSubtype="0" fill="hold" grpId="0" nodeType="after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childTnLst>
                          </p:cTn>
                        </p:par>
                        <p:par>
                          <p:cTn id="71" fill="hold">
                            <p:stCondLst>
                              <p:cond delay="2100"/>
                            </p:stCondLst>
                            <p:childTnLst>
                              <p:par>
                                <p:cTn id="62" presetID="10" presetClass="entr" presetSubtype="0" fill="hold" grpId="0" nodeType="after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par>
                          <p:cTn id="81" fill="hold">
                            <p:stCondLst>
                              <p:cond delay="2450"/>
                            </p:stCondLst>
                            <p:childTnLst>
                              <p:par>
                                <p:cTn id="72" presetID="10" presetClass="entr" presetSubtype="0" fill="hold" grpId="0" nodeType="after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childTnLst>
                          </p:cTn>
                        </p:par>
                        <p:par>
                          <p:cTn id="91" fill="hold">
                            <p:stCondLst>
                              <p:cond delay="2800"/>
                            </p:stCondLst>
                            <p:childTnLst>
                              <p:par>
                                <p:cTn id="82" presetID="10" presetClass="entr" presetSubtype="0" fill="hold" grpId="0" nodeType="after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500"/>
                                        <p:tgtEl>
                                          <p:spTgt spid="29"/>
                                        </p:tgtEl>
                                      </p:cBhvr>
                                    </p:animEffect>
                                  </p:childTnLst>
                                </p:cTn>
                              </p:par>
                            </p:childTnLst>
                          </p:cTn>
                        </p:par>
                        <p:par>
                          <p:cTn id="101" fill="hold">
                            <p:stCondLst>
                              <p:cond delay="3150"/>
                            </p:stCondLst>
                            <p:childTnLst>
                              <p:par>
                                <p:cTn id="92" presetID="10" presetClass="entr" presetSubtype="0" fill="hold" grpId="0" nodeType="after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500"/>
                                        <p:tgtEl>
                                          <p:spTgt spid="3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500"/>
                                        <p:tgtEl>
                                          <p:spTgt spid="3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0" grpId="0" animBg="1"/>
      <p:bldP spid="21" grpId="0" animBg="1"/>
      <p:bldP spid="23" grpId="0" animBg="1"/>
      <p:bldP spid="24" grpId="0" animBg="1"/>
      <p:bldP spid="26" grpId="0" animBg="1"/>
      <p:bldP spid="27" grpId="0" animBg="1"/>
      <p:bldP spid="29" grpId="0" animBg="1"/>
      <p:bldP spid="30" grpId="0" animBg="1"/>
      <p:bldP spid="3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Genuine interface screenshots</a:t>
            </a:r>
            <a:endParaRPr lang="en-US" sz="3200" dirty="0"/>
          </a:p>
        </p:txBody>
      </p:sp>
      <p:sp>
        <p:nvSpPr>
          <p:cNvPr id="3" name="Section navigation"/>
          <p:cNvSpPr txBox="1"/>
          <p:nvPr/>
        </p:nvSpPr>
        <p:spPr>
          <a:xfrm>
            <a:off x="4206240" y="6400800"/>
            <a:ext cx="6766560" cy="274320"/>
          </a:xfrm>
          <a:prstGeom prst="rect">
            <a:avLst/>
          </a:prstGeom>
          <a:noFill/>
          <a:ln/>
        </p:spPr>
        <p:txBody>
          <a:bodyPr wrap="square" lIns="0" tIns="0" rIns="0" bIns="0" rtlCol="0" anchor="t"/>
          <a:lstStyle/>
          <a:p>
            <a:pPr algn="r" indent="0" marL="0">
              <a:buNone/>
            </a:pPr>
            <a:r>
              <a:rPr lang="en-US" sz="1000" u="sng" dirty="0">
                <a:solidFill>
                  <a:schemeClr val="tx2"/>
                </a:solidFill>
                <a:latin typeface="Calibri" pitchFamily="34" charset="0"/>
                <a:ea typeface="Calibri" pitchFamily="34" charset="-122"/>
                <a:cs typeface="Calibri" pitchFamily="34" charset="-120"/>
                <a:hlinkClick r:id="rId1" action="ppaction://hlinksldjump" tooltip="Go to Home">
                  <a:extLst>
                    <a:ext uri="{A12FA001-AC4F-418D-AE19-62706E023703}">
                      <ahyp:hlinkClr xmlns:ahyp="http://schemas.microsoft.com/office/drawing/2018/hyperlinkcolor" val="tx"/>
                    </a:ext>
                  </a:extLst>
                </a:hlinkClick>
              </a:rPr>
              <a:t>Home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2" action="ppaction://hlinksldjump" tooltip="Go to Architecture">
                  <a:extLst>
                    <a:ext uri="{A12FA001-AC4F-418D-AE19-62706E023703}">
                      <ahyp:hlinkClr xmlns:ahyp="http://schemas.microsoft.com/office/drawing/2018/hyperlinkcolor" val="tx"/>
                    </a:ext>
                  </a:extLst>
                </a:hlinkClick>
              </a:rPr>
              <a:t>Architecture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3" action="ppaction://hlinksldjump" tooltip="Go to Pipeline">
                  <a:extLst>
                    <a:ext uri="{A12FA001-AC4F-418D-AE19-62706E023703}">
                      <ahyp:hlinkClr xmlns:ahyp="http://schemas.microsoft.com/office/drawing/2018/hyperlinkcolor" val="tx"/>
                    </a:ext>
                  </a:extLst>
                </a:hlinkClick>
              </a:rPr>
              <a:t>Pipeline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4" action="ppaction://hlinksldjump" tooltip="Go to Security">
                  <a:extLst>
                    <a:ext uri="{A12FA001-AC4F-418D-AE19-62706E023703}">
                      <ahyp:hlinkClr xmlns:ahyp="http://schemas.microsoft.com/office/drawing/2018/hyperlinkcolor" val="tx"/>
                    </a:ext>
                  </a:extLst>
                </a:hlinkClick>
              </a:rPr>
              <a:t>Security</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5" action="ppaction://hlinksldjump" tooltip="Go to Results">
                  <a:extLst>
                    <a:ext uri="{A12FA001-AC4F-418D-AE19-62706E023703}">
                      <ahyp:hlinkClr xmlns:ahyp="http://schemas.microsoft.com/office/drawing/2018/hyperlinkcolor" val="tx"/>
                    </a:ext>
                  </a:extLst>
                </a:hlinkClick>
              </a:rPr>
              <a:t>Results</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6" action="ppaction://hlinksldjump" tooltip="Go to Contact">
                  <a:extLst>
                    <a:ext uri="{A12FA001-AC4F-418D-AE19-62706E023703}">
                      <ahyp:hlinkClr xmlns:ahyp="http://schemas.microsoft.com/office/drawing/2018/hyperlinkcolor" val="tx"/>
                    </a:ext>
                  </a:extLst>
                </a:hlinkClick>
              </a:rPr>
              <a:t>Contact</a:t>
            </a:r>
            <a:endParaRPr lang="en-US" sz="1000" dirty="0"/>
          </a:p>
        </p:txBody>
      </p:sp>
      <p:pic>
        <p:nvPicPr>
          <p:cNvPr id="4" name="a1: Web screenshot" descr="AgentForge web interface with Ollama not running: a message says chat needs Ollama, the calculator returned 223.5 and a saved note is shown.">    </p:cNvPr>
          <p:cNvPicPr>
            <a:picLocks noChangeAspect="1"/>
          </p:cNvPicPr>
          <p:nvPr/>
        </p:nvPicPr>
        <p:blipFill>
          <a:blip r:embed="rId7"/>
          <a:stretch>
            <a:fillRect/>
          </a:stretch>
        </p:blipFill>
        <p:spPr>
          <a:xfrm>
            <a:off x="548640" y="1280160"/>
            <a:ext cx="5257800" cy="4529938"/>
          </a:xfrm>
          <a:prstGeom prst="rect">
            <a:avLst/>
          </a:prstGeom>
        </p:spPr>
      </p:pic>
      <p:sp>
        <p:nvSpPr>
          <p:cNvPr id="5" name="a1: Web caption"/>
          <p:cNvSpPr txBox="1"/>
          <p:nvPr/>
        </p:nvSpPr>
        <p:spPr>
          <a:xfrm>
            <a:off x="548640" y="5870448"/>
            <a:ext cx="5257800" cy="502920"/>
          </a:xfrm>
          <a:prstGeom prst="rect">
            <a:avLst/>
          </a:prstGeom>
          <a:noFill/>
          <a:ln/>
        </p:spPr>
        <p:txBody>
          <a:bodyPr wrap="square" lIns="0" tIns="0" rIns="0" bIns="0" rtlCol="0" anchor="t"/>
          <a:lstStyle/>
          <a:p>
            <a:pPr indent="0" marL="0">
              <a:buNone/>
            </a:pPr>
            <a:r>
              <a:rPr lang="en-US" sz="1200" b="1" dirty="0">
                <a:solidFill>
                  <a:schemeClr val="accent3"/>
                </a:solidFill>
                <a:latin typeface="Calibri" pitchFamily="34" charset="0"/>
                <a:ea typeface="Calibri" pitchFamily="34" charset="-122"/>
                <a:cs typeface="Calibri" pitchFamily="34" charset="-120"/>
              </a:rPr>
              <a:t>Web UI, Ollama not running (real state). </a:t>
            </a:r>
            <a:pPr indent="0" marL="0">
              <a:buNone/>
            </a:pPr>
            <a:r>
              <a:rPr lang="en-US" sz="1200" dirty="0">
                <a:solidFill>
                  <a:schemeClr val="tx2"/>
                </a:solidFill>
                <a:latin typeface="Calibri" pitchFamily="34" charset="0"/>
                <a:ea typeface="Calibri" pitchFamily="34" charset="-122"/>
                <a:cs typeface="Calibri" pitchFamily="34" charset="-120"/>
              </a:rPr>
              <a:t>Chat is disabled with a clear message; the calculator and a note were used through the direct tool panel.</a:t>
            </a:r>
            <a:endParaRPr lang="en-US" sz="1200" dirty="0"/>
          </a:p>
        </p:txBody>
      </p:sp>
      <p:pic>
        <p:nvPicPr>
          <p:cNvPr id="6" name="a2: CLI screenshot" descr="Terminal session: agentforge --check reports Ollama not reachable; /run commands show the calculator, notes, an unknown tool being rejected and a huge power being refused.">    </p:cNvPr>
          <p:cNvPicPr>
            <a:picLocks noChangeAspect="1"/>
          </p:cNvPicPr>
          <p:nvPr/>
        </p:nvPicPr>
        <p:blipFill>
          <a:blip r:embed="rId8"/>
          <a:stretch>
            <a:fillRect/>
          </a:stretch>
        </p:blipFill>
        <p:spPr>
          <a:xfrm>
            <a:off x="6080760" y="1280160"/>
            <a:ext cx="5532120" cy="3660343"/>
          </a:xfrm>
          <a:prstGeom prst="rect">
            <a:avLst/>
          </a:prstGeom>
        </p:spPr>
      </p:pic>
      <p:sp>
        <p:nvSpPr>
          <p:cNvPr id="7" name="a2: CLI caption"/>
          <p:cNvSpPr txBox="1"/>
          <p:nvPr/>
        </p:nvSpPr>
        <p:spPr>
          <a:xfrm>
            <a:off x="6080760" y="5029200"/>
            <a:ext cx="5532120" cy="548640"/>
          </a:xfrm>
          <a:prstGeom prst="rect">
            <a:avLst/>
          </a:prstGeom>
          <a:noFill/>
          <a:ln/>
        </p:spPr>
        <p:txBody>
          <a:bodyPr wrap="square" lIns="0" tIns="0" rIns="0" bIns="0" rtlCol="0" anchor="t"/>
          <a:lstStyle/>
          <a:p>
            <a:pPr indent="0" marL="0">
              <a:buNone/>
            </a:pPr>
            <a:r>
              <a:rPr lang="en-US" sz="1200" b="1" dirty="0">
                <a:solidFill>
                  <a:schemeClr val="accent3"/>
                </a:solidFill>
                <a:latin typeface="Calibri" pitchFamily="34" charset="0"/>
                <a:ea typeface="Calibri" pitchFamily="34" charset="-122"/>
                <a:cs typeface="Calibri" pitchFamily="34" charset="-120"/>
              </a:rPr>
              <a:t>Terminal, captured output (Ollama not running). </a:t>
            </a:r>
            <a:pPr indent="0" marL="0">
              <a:buNone/>
            </a:pPr>
            <a:r>
              <a:rPr lang="en-US" sz="1200" dirty="0">
                <a:solidFill>
                  <a:schemeClr val="tx2"/>
                </a:solidFill>
                <a:latin typeface="Calibri" pitchFamily="34" charset="0"/>
                <a:ea typeface="Calibri" pitchFamily="34" charset="-122"/>
                <a:cs typeface="Calibri" pitchFamily="34" charset="-120"/>
              </a:rPr>
              <a:t>Unknown tool 'shell' rejected; 9**9**9**9 refused; notes saved and read.</a:t>
            </a:r>
            <a:endParaRPr lang="en-US" sz="1200" dirty="0"/>
          </a:p>
        </p:txBody>
      </p:sp>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8</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8" fill="hold">
                            <p:stCondLst>
                              <p:cond delay="35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Testing methodology and actual results</a:t>
            </a:r>
            <a:endParaRPr lang="en-US" sz="3200" dirty="0"/>
          </a:p>
        </p:txBody>
      </p:sp>
      <p:sp>
        <p:nvSpPr>
          <p:cNvPr id="3" name="Section navigation"/>
          <p:cNvSpPr txBox="1"/>
          <p:nvPr/>
        </p:nvSpPr>
        <p:spPr>
          <a:xfrm>
            <a:off x="4206240" y="6400800"/>
            <a:ext cx="6766560" cy="274320"/>
          </a:xfrm>
          <a:prstGeom prst="rect">
            <a:avLst/>
          </a:prstGeom>
          <a:noFill/>
          <a:ln/>
        </p:spPr>
        <p:txBody>
          <a:bodyPr wrap="square" lIns="0" tIns="0" rIns="0" bIns="0" rtlCol="0" anchor="t"/>
          <a:lstStyle/>
          <a:p>
            <a:pPr algn="r" indent="0" marL="0">
              <a:buNone/>
            </a:pPr>
            <a:r>
              <a:rPr lang="en-US" sz="1000" u="sng" dirty="0">
                <a:solidFill>
                  <a:schemeClr val="tx2"/>
                </a:solidFill>
                <a:latin typeface="Calibri" pitchFamily="34" charset="0"/>
                <a:ea typeface="Calibri" pitchFamily="34" charset="-122"/>
                <a:cs typeface="Calibri" pitchFamily="34" charset="-120"/>
                <a:hlinkClick r:id="rId1" action="ppaction://hlinksldjump" tooltip="Go to Home">
                  <a:extLst>
                    <a:ext uri="{A12FA001-AC4F-418D-AE19-62706E023703}">
                      <ahyp:hlinkClr xmlns:ahyp="http://schemas.microsoft.com/office/drawing/2018/hyperlinkcolor" val="tx"/>
                    </a:ext>
                  </a:extLst>
                </a:hlinkClick>
              </a:rPr>
              <a:t>Home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2" action="ppaction://hlinksldjump" tooltip="Go to Architecture">
                  <a:extLst>
                    <a:ext uri="{A12FA001-AC4F-418D-AE19-62706E023703}">
                      <ahyp:hlinkClr xmlns:ahyp="http://schemas.microsoft.com/office/drawing/2018/hyperlinkcolor" val="tx"/>
                    </a:ext>
                  </a:extLst>
                </a:hlinkClick>
              </a:rPr>
              <a:t>Architecture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3" action="ppaction://hlinksldjump" tooltip="Go to Pipeline">
                  <a:extLst>
                    <a:ext uri="{A12FA001-AC4F-418D-AE19-62706E023703}">
                      <ahyp:hlinkClr xmlns:ahyp="http://schemas.microsoft.com/office/drawing/2018/hyperlinkcolor" val="tx"/>
                    </a:ext>
                  </a:extLst>
                </a:hlinkClick>
              </a:rPr>
              <a:t>Pipeline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4" action="ppaction://hlinksldjump" tooltip="Go to Security">
                  <a:extLst>
                    <a:ext uri="{A12FA001-AC4F-418D-AE19-62706E023703}">
                      <ahyp:hlinkClr xmlns:ahyp="http://schemas.microsoft.com/office/drawing/2018/hyperlinkcolor" val="tx"/>
                    </a:ext>
                  </a:extLst>
                </a:hlinkClick>
              </a:rPr>
              <a:t>Security</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b="1" dirty="0">
                <a:solidFill>
                  <a:schemeClr val="accent1"/>
                </a:solidFill>
                <a:latin typeface="Calibri" pitchFamily="34" charset="0"/>
                <a:ea typeface="Calibri" pitchFamily="34" charset="-122"/>
                <a:cs typeface="Calibri" pitchFamily="34" charset="-120"/>
              </a:rPr>
              <a:t>Results</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5" action="ppaction://hlinksldjump" tooltip="Go to Contact">
                  <a:extLst>
                    <a:ext uri="{A12FA001-AC4F-418D-AE19-62706E023703}">
                      <ahyp:hlinkClr xmlns:ahyp="http://schemas.microsoft.com/office/drawing/2018/hyperlinkcolor" val="tx"/>
                    </a:ext>
                  </a:extLst>
                </a:hlinkClick>
              </a:rPr>
              <a:t>Contact</a:t>
            </a:r>
            <a:endParaRPr lang="en-US" sz="1000" dirty="0"/>
          </a:p>
        </p:txBody>
      </p:sp>
      <p:sp>
        <p:nvSpPr>
          <p:cNvPr id="4" name="a1: Stat 0"/>
          <p:cNvSpPr/>
          <p:nvPr/>
        </p:nvSpPr>
        <p:spPr>
          <a:xfrm>
            <a:off x="548640" y="1325880"/>
            <a:ext cx="3291840" cy="1325880"/>
          </a:xfrm>
          <a:prstGeom prst="roundRect">
            <a:avLst>
              <a:gd name="adj" fmla="val 8276"/>
            </a:avLst>
          </a:prstGeom>
          <a:solidFill>
            <a:schemeClr val="bg2"/>
          </a:solidFill>
          <a:ln w="12700">
            <a:solidFill>
              <a:schemeClr val="accent6"/>
            </a:solidFill>
            <a:prstDash val="solid"/>
          </a:ln>
        </p:spPr>
      </p:sp>
      <p:sp>
        <p:nvSpPr>
          <p:cNvPr id="5" name="a1: Stat 0 number"/>
          <p:cNvSpPr txBox="1"/>
          <p:nvPr/>
        </p:nvSpPr>
        <p:spPr>
          <a:xfrm>
            <a:off x="685800" y="1417320"/>
            <a:ext cx="1417320" cy="1097280"/>
          </a:xfrm>
          <a:prstGeom prst="rect">
            <a:avLst/>
          </a:prstGeom>
          <a:noFill/>
          <a:ln/>
        </p:spPr>
        <p:txBody>
          <a:bodyPr wrap="square" lIns="0" tIns="0" rIns="0" bIns="0" rtlCol="0" anchor="ctr"/>
          <a:lstStyle/>
          <a:p>
            <a:pPr algn="ctr" indent="0" marL="0">
              <a:buNone/>
            </a:pPr>
            <a:r>
              <a:rPr lang="en-US" sz="4400" b="1" dirty="0">
                <a:solidFill>
                  <a:schemeClr val="accent3"/>
                </a:solidFill>
                <a:latin typeface="Arial" pitchFamily="34" charset="0"/>
                <a:ea typeface="Arial" pitchFamily="34" charset="-122"/>
                <a:cs typeface="Arial" pitchFamily="34" charset="-120"/>
              </a:rPr>
              <a:t>214</a:t>
            </a:r>
            <a:endParaRPr lang="en-US" sz="4400" dirty="0"/>
          </a:p>
        </p:txBody>
      </p:sp>
      <p:sp>
        <p:nvSpPr>
          <p:cNvPr id="6" name="a1: Stat 0 label"/>
          <p:cNvSpPr txBox="1"/>
          <p:nvPr/>
        </p:nvSpPr>
        <p:spPr>
          <a:xfrm>
            <a:off x="2148840" y="1554480"/>
            <a:ext cx="1600200" cy="8686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core tests passed</a:t>
            </a:r>
            <a:endParaRPr lang="en-US" sz="1400" dirty="0"/>
          </a:p>
          <a:p>
            <a:pPr indent="0" marL="0">
              <a:buNone/>
            </a:pPr>
            <a:r>
              <a:rPr lang="en-US" sz="1200" dirty="0">
                <a:solidFill>
                  <a:schemeClr val="tx2"/>
                </a:solidFill>
                <a:latin typeface="Calibri" pitchFamily="34" charset="0"/>
                <a:ea typeface="Calibri" pitchFamily="34" charset="-122"/>
                <a:cs typeface="Calibri" pitchFamily="34" charset="-120"/>
              </a:rPr>
              <a:t>Python 3.10.12 and 3.12.15</a:t>
            </a:r>
            <a:endParaRPr lang="en-US" sz="1400" dirty="0"/>
          </a:p>
        </p:txBody>
      </p:sp>
      <p:sp>
        <p:nvSpPr>
          <p:cNvPr id="7" name="a2: Stat 1"/>
          <p:cNvSpPr/>
          <p:nvPr/>
        </p:nvSpPr>
        <p:spPr>
          <a:xfrm>
            <a:off x="548640" y="2834640"/>
            <a:ext cx="3291840" cy="1325880"/>
          </a:xfrm>
          <a:prstGeom prst="roundRect">
            <a:avLst>
              <a:gd name="adj" fmla="val 8276"/>
            </a:avLst>
          </a:prstGeom>
          <a:solidFill>
            <a:schemeClr val="bg2"/>
          </a:solidFill>
          <a:ln w="12700">
            <a:solidFill>
              <a:schemeClr val="accent6"/>
            </a:solidFill>
            <a:prstDash val="solid"/>
          </a:ln>
        </p:spPr>
      </p:sp>
      <p:sp>
        <p:nvSpPr>
          <p:cNvPr id="8" name="a2: Stat 1 number"/>
          <p:cNvSpPr txBox="1"/>
          <p:nvPr/>
        </p:nvSpPr>
        <p:spPr>
          <a:xfrm>
            <a:off x="685800" y="2926080"/>
            <a:ext cx="1417320" cy="1097280"/>
          </a:xfrm>
          <a:prstGeom prst="rect">
            <a:avLst/>
          </a:prstGeom>
          <a:noFill/>
          <a:ln/>
        </p:spPr>
        <p:txBody>
          <a:bodyPr wrap="square" lIns="0" tIns="0" rIns="0" bIns="0" rtlCol="0" anchor="ctr"/>
          <a:lstStyle/>
          <a:p>
            <a:pPr algn="ctr" indent="0" marL="0">
              <a:buNone/>
            </a:pPr>
            <a:r>
              <a:rPr lang="en-US" sz="4400" b="1" dirty="0">
                <a:solidFill>
                  <a:schemeClr val="accent1"/>
                </a:solidFill>
                <a:latin typeface="Arial" pitchFamily="34" charset="0"/>
                <a:ea typeface="Arial" pitchFamily="34" charset="-122"/>
                <a:cs typeface="Arial" pitchFamily="34" charset="-120"/>
              </a:rPr>
              <a:t>219</a:t>
            </a:r>
            <a:endParaRPr lang="en-US" sz="4400" dirty="0"/>
          </a:p>
        </p:txBody>
      </p:sp>
      <p:sp>
        <p:nvSpPr>
          <p:cNvPr id="9" name="a2: Stat 1 label"/>
          <p:cNvSpPr txBox="1"/>
          <p:nvPr/>
        </p:nvSpPr>
        <p:spPr>
          <a:xfrm>
            <a:off x="2148840" y="3063240"/>
            <a:ext cx="1600200" cy="8686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incl. 5 browser tests</a:t>
            </a:r>
            <a:endParaRPr lang="en-US" sz="1400" dirty="0"/>
          </a:p>
          <a:p>
            <a:pPr indent="0" marL="0">
              <a:buNone/>
            </a:pPr>
            <a:r>
              <a:rPr lang="en-US" sz="1200" dirty="0">
                <a:solidFill>
                  <a:schemeClr val="tx2"/>
                </a:solidFill>
                <a:latin typeface="Calibri" pitchFamily="34" charset="0"/>
                <a:ea typeface="Calibri" pitchFamily="34" charset="-122"/>
                <a:cs typeface="Calibri" pitchFamily="34" charset="-120"/>
              </a:rPr>
              <a:t>Python 3.13 + Chromium</a:t>
            </a:r>
            <a:endParaRPr lang="en-US" sz="1400" dirty="0"/>
          </a:p>
        </p:txBody>
      </p:sp>
      <p:sp>
        <p:nvSpPr>
          <p:cNvPr id="10" name="a3: Stat 2"/>
          <p:cNvSpPr/>
          <p:nvPr/>
        </p:nvSpPr>
        <p:spPr>
          <a:xfrm>
            <a:off x="548640" y="4343400"/>
            <a:ext cx="3291840" cy="1325880"/>
          </a:xfrm>
          <a:prstGeom prst="roundRect">
            <a:avLst>
              <a:gd name="adj" fmla="val 8276"/>
            </a:avLst>
          </a:prstGeom>
          <a:solidFill>
            <a:schemeClr val="bg2"/>
          </a:solidFill>
          <a:ln w="12700">
            <a:solidFill>
              <a:schemeClr val="accent6"/>
            </a:solidFill>
            <a:prstDash val="solid"/>
          </a:ln>
        </p:spPr>
      </p:sp>
      <p:sp>
        <p:nvSpPr>
          <p:cNvPr id="11" name="a3: Stat 2 number"/>
          <p:cNvSpPr txBox="1"/>
          <p:nvPr/>
        </p:nvSpPr>
        <p:spPr>
          <a:xfrm>
            <a:off x="685800" y="4434840"/>
            <a:ext cx="1417320" cy="1097280"/>
          </a:xfrm>
          <a:prstGeom prst="rect">
            <a:avLst/>
          </a:prstGeom>
          <a:noFill/>
          <a:ln/>
        </p:spPr>
        <p:txBody>
          <a:bodyPr wrap="square" lIns="0" tIns="0" rIns="0" bIns="0" rtlCol="0" anchor="ctr"/>
          <a:lstStyle/>
          <a:p>
            <a:pPr algn="ctr" indent="0" marL="0">
              <a:buNone/>
            </a:pPr>
            <a:r>
              <a:rPr lang="en-US" sz="4400" b="1" dirty="0">
                <a:solidFill>
                  <a:schemeClr val="accent4"/>
                </a:solidFill>
                <a:latin typeface="Arial" pitchFamily="34" charset="0"/>
                <a:ea typeface="Arial" pitchFamily="34" charset="-122"/>
                <a:cs typeface="Arial" pitchFamily="34" charset="-120"/>
              </a:rPr>
              <a:t>0</a:t>
            </a:r>
            <a:endParaRPr lang="en-US" sz="4400" dirty="0"/>
          </a:p>
        </p:txBody>
      </p:sp>
      <p:sp>
        <p:nvSpPr>
          <p:cNvPr id="12" name="a3: Stat 2 label"/>
          <p:cNvSpPr txBox="1"/>
          <p:nvPr/>
        </p:nvSpPr>
        <p:spPr>
          <a:xfrm>
            <a:off x="2148840" y="4572000"/>
            <a:ext cx="1600200" cy="8686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real-model runs</a:t>
            </a:r>
            <a:endParaRPr lang="en-US" sz="1400" dirty="0"/>
          </a:p>
          <a:p>
            <a:pPr indent="0" marL="0">
              <a:buNone/>
            </a:pPr>
            <a:r>
              <a:rPr lang="en-US" sz="1200" dirty="0">
                <a:solidFill>
                  <a:schemeClr val="tx2"/>
                </a:solidFill>
                <a:latin typeface="Calibri" pitchFamily="34" charset="0"/>
                <a:ea typeface="Calibri" pitchFamily="34" charset="-122"/>
                <a:cs typeface="Calibri" pitchFamily="34" charset="-120"/>
              </a:rPr>
              <a:t>not yet performed</a:t>
            </a:r>
            <a:endParaRPr lang="en-US" sz="1400" dirty="0"/>
          </a:p>
        </p:txBody>
      </p:sp>
      <p:graphicFrame>
        <p:nvGraphicFramePr>
          <p:cNvPr id="13" name="Chart 0" descr=""/>
          <p:cNvGraphicFramePr/>
          <p:nvPr/>
        </p:nvGraphicFramePr>
        <p:xfrm>
          <a:off x="4114800" y="1280160"/>
          <a:ext cx="7498080" cy="4160520"/>
        </p:xfrm>
        <a:graphic xmlns:a="http://schemas.openxmlformats.org/drawingml/2006/main">
          <a:graphicData uri="http://schemas.openxmlformats.org/drawingml/2006/chart">
            <c:chart xmlns:c="http://schemas.openxmlformats.org/drawingml/2006/chart" r:id="rId6"/>
          </a:graphicData>
        </a:graphic>
      </p:graphicFrame>
      <p:sp>
        <p:nvSpPr>
          <p:cNvPr id="14" name="a5: Quality line"/>
          <p:cNvSpPr txBox="1"/>
          <p:nvPr/>
        </p:nvSpPr>
        <p:spPr>
          <a:xfrm>
            <a:off x="4114800" y="5577840"/>
            <a:ext cx="7498080" cy="64008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Quality checks (29 Oct 2026): </a:t>
            </a:r>
            <a:pPr indent="0" marL="0">
              <a:buNone/>
            </a:pPr>
            <a:r>
              <a:rPr lang="en-US" sz="1300" dirty="0">
                <a:solidFill>
                  <a:schemeClr val="tx1"/>
                </a:solidFill>
                <a:latin typeface="Calibri" pitchFamily="34" charset="0"/>
                <a:ea typeface="Calibri" pitchFamily="34" charset="-122"/>
                <a:cs typeface="Calibri" pitchFamily="34" charset="-120"/>
              </a:rPr>
              <a:t>ruff lint and format clean · mypy clean · bandit: no issues · pip-audit: no known vulnerabilities. Real-model and live tests are still to be run.</a:t>
            </a:r>
            <a:endParaRPr lang="en-US" sz="1300" dirty="0"/>
          </a:p>
        </p:txBody>
      </p:sp>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24"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34" fill="hold">
                            <p:stCondLst>
                              <p:cond delay="700"/>
                            </p:stCondLst>
                            <p:childTnLst>
                              <p:par>
                                <p:cTn id="25" presetID="10"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par>
                          <p:cTn id="38" fill="hold">
                            <p:stCondLst>
                              <p:cond delay="1050"/>
                            </p:stCondLst>
                            <p:childTnLst>
                              <p:par>
                                <p:cTn id="35" presetID="22" presetClass="entr" presetSubtype="8"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par>
                          <p:cTn id="42" fill="hold">
                            <p:stCondLst>
                              <p:cond delay="1400"/>
                            </p:stCondLst>
                            <p:childTnLst>
                              <p:par>
                                <p:cTn id="39" presetID="10"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Graphic spid="13" grpId="0">
        <p:bldAsOne/>
      </p:bldGraphic>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Limitations and future improvements</a:t>
            </a:r>
            <a:endParaRPr lang="en-US" sz="3200" dirty="0"/>
          </a:p>
        </p:txBody>
      </p:sp>
      <p:sp>
        <p:nvSpPr>
          <p:cNvPr id="3" name="Section navigation"/>
          <p:cNvSpPr txBox="1"/>
          <p:nvPr/>
        </p:nvSpPr>
        <p:spPr>
          <a:xfrm>
            <a:off x="4206240" y="6400800"/>
            <a:ext cx="6766560" cy="274320"/>
          </a:xfrm>
          <a:prstGeom prst="rect">
            <a:avLst/>
          </a:prstGeom>
          <a:noFill/>
          <a:ln/>
        </p:spPr>
        <p:txBody>
          <a:bodyPr wrap="square" lIns="0" tIns="0" rIns="0" bIns="0" rtlCol="0" anchor="t"/>
          <a:lstStyle/>
          <a:p>
            <a:pPr algn="r" indent="0" marL="0">
              <a:buNone/>
            </a:pPr>
            <a:r>
              <a:rPr lang="en-US" sz="1000" u="sng" dirty="0">
                <a:solidFill>
                  <a:schemeClr val="tx2"/>
                </a:solidFill>
                <a:latin typeface="Calibri" pitchFamily="34" charset="0"/>
                <a:ea typeface="Calibri" pitchFamily="34" charset="-122"/>
                <a:cs typeface="Calibri" pitchFamily="34" charset="-120"/>
                <a:hlinkClick r:id="rId1" action="ppaction://hlinksldjump" tooltip="Go to Home">
                  <a:extLst>
                    <a:ext uri="{A12FA001-AC4F-418D-AE19-62706E023703}">
                      <ahyp:hlinkClr xmlns:ahyp="http://schemas.microsoft.com/office/drawing/2018/hyperlinkcolor" val="tx"/>
                    </a:ext>
                  </a:extLst>
                </a:hlinkClick>
              </a:rPr>
              <a:t>Home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2" action="ppaction://hlinksldjump" tooltip="Go to Architecture">
                  <a:extLst>
                    <a:ext uri="{A12FA001-AC4F-418D-AE19-62706E023703}">
                      <ahyp:hlinkClr xmlns:ahyp="http://schemas.microsoft.com/office/drawing/2018/hyperlinkcolor" val="tx"/>
                    </a:ext>
                  </a:extLst>
                </a:hlinkClick>
              </a:rPr>
              <a:t>Architecture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3" action="ppaction://hlinksldjump" tooltip="Go to Pipeline">
                  <a:extLst>
                    <a:ext uri="{A12FA001-AC4F-418D-AE19-62706E023703}">
                      <ahyp:hlinkClr xmlns:ahyp="http://schemas.microsoft.com/office/drawing/2018/hyperlinkcolor" val="tx"/>
                    </a:ext>
                  </a:extLst>
                </a:hlinkClick>
              </a:rPr>
              <a:t>Pipeline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4" action="ppaction://hlinksldjump" tooltip="Go to Security">
                  <a:extLst>
                    <a:ext uri="{A12FA001-AC4F-418D-AE19-62706E023703}">
                      <ahyp:hlinkClr xmlns:ahyp="http://schemas.microsoft.com/office/drawing/2018/hyperlinkcolor" val="tx"/>
                    </a:ext>
                  </a:extLst>
                </a:hlinkClick>
              </a:rPr>
              <a:t>Security</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5" action="ppaction://hlinksldjump" tooltip="Go to Results">
                  <a:extLst>
                    <a:ext uri="{A12FA001-AC4F-418D-AE19-62706E023703}">
                      <ahyp:hlinkClr xmlns:ahyp="http://schemas.microsoft.com/office/drawing/2018/hyperlinkcolor" val="tx"/>
                    </a:ext>
                  </a:extLst>
                </a:hlinkClick>
              </a:rPr>
              <a:t>Results</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6" action="ppaction://hlinksldjump" tooltip="Go to Contact">
                  <a:extLst>
                    <a:ext uri="{A12FA001-AC4F-418D-AE19-62706E023703}">
                      <ahyp:hlinkClr xmlns:ahyp="http://schemas.microsoft.com/office/drawing/2018/hyperlinkcolor" val="tx"/>
                    </a:ext>
                  </a:extLst>
                </a:hlinkClick>
              </a:rPr>
              <a:t>Contact</a:t>
            </a:r>
            <a:endParaRPr lang="en-US" sz="1000" dirty="0"/>
          </a:p>
        </p:txBody>
      </p:sp>
      <p:sp>
        <p:nvSpPr>
          <p:cNvPr id="4" name="a1: Limitations card"/>
          <p:cNvSpPr/>
          <p:nvPr/>
        </p:nvSpPr>
        <p:spPr>
          <a:xfrm>
            <a:off x="548640" y="1325880"/>
            <a:ext cx="5394960" cy="4754880"/>
          </a:xfrm>
          <a:prstGeom prst="roundRect">
            <a:avLst>
              <a:gd name="adj" fmla="val 2308"/>
            </a:avLst>
          </a:prstGeom>
          <a:solidFill>
            <a:schemeClr val="bg2"/>
          </a:solidFill>
          <a:ln w="12700">
            <a:solidFill>
              <a:schemeClr val="accent6"/>
            </a:solidFill>
            <a:prstDash val="solid"/>
          </a:ln>
        </p:spPr>
      </p:sp>
      <p:sp>
        <p:nvSpPr>
          <p:cNvPr id="5" name="a1: Limitations circle"/>
          <p:cNvSpPr/>
          <p:nvPr/>
        </p:nvSpPr>
        <p:spPr>
          <a:xfrm>
            <a:off x="822960" y="1554480"/>
            <a:ext cx="685800" cy="685800"/>
          </a:xfrm>
          <a:prstGeom prst="ellipse">
            <a:avLst/>
          </a:prstGeom>
          <a:solidFill>
            <a:schemeClr val="bg1"/>
          </a:solidFill>
          <a:ln w="19050">
            <a:solidFill>
              <a:schemeClr val="accent5"/>
            </a:solidFill>
            <a:prstDash val="solid"/>
          </a:ln>
        </p:spPr>
      </p:sp>
      <p:pic>
        <p:nvPicPr>
          <p:cNvPr id="6" name="a1: Limitations icon" descr="">    </p:cNvPr>
          <p:cNvPicPr>
            <a:picLocks noChangeAspect="1"/>
          </p:cNvPicPr>
          <p:nvPr/>
        </p:nvPicPr>
        <p:blipFill>
          <a:blip r:embed="rId7"/>
          <a:stretch>
            <a:fillRect/>
          </a:stretch>
        </p:blipFill>
        <p:spPr>
          <a:xfrm>
            <a:off x="973836" y="1705356"/>
            <a:ext cx="384048" cy="384048"/>
          </a:xfrm>
          <a:prstGeom prst="rect">
            <a:avLst/>
          </a:prstGeom>
        </p:spPr>
      </p:pic>
      <p:sp>
        <p:nvSpPr>
          <p:cNvPr id="7" name="a1: Limitations head"/>
          <p:cNvSpPr txBox="1"/>
          <p:nvPr/>
        </p:nvSpPr>
        <p:spPr>
          <a:xfrm>
            <a:off x="1691640" y="1691640"/>
            <a:ext cx="4023360" cy="411480"/>
          </a:xfrm>
          <a:prstGeom prst="rect">
            <a:avLst/>
          </a:prstGeom>
          <a:noFill/>
          <a:ln/>
        </p:spPr>
        <p:txBody>
          <a:bodyPr wrap="square" lIns="0" tIns="0" rIns="0" bIns="0" rtlCol="0" anchor="t"/>
          <a:lstStyle/>
          <a:p>
            <a:pPr indent="0" marL="0">
              <a:buNone/>
            </a:pPr>
            <a:r>
              <a:rPr lang="en-US" sz="2000" b="1" dirty="0">
                <a:solidFill>
                  <a:schemeClr val="accent5"/>
                </a:solidFill>
                <a:latin typeface="Calibri" pitchFamily="34" charset="0"/>
                <a:ea typeface="Calibri" pitchFamily="34" charset="-122"/>
                <a:cs typeface="Calibri" pitchFamily="34" charset="-120"/>
              </a:rPr>
              <a:t>Limitations</a:t>
            </a:r>
            <a:endParaRPr lang="en-US" sz="2000" dirty="0"/>
          </a:p>
        </p:txBody>
      </p:sp>
      <p:sp>
        <p:nvSpPr>
          <p:cNvPr id="8" name="a2: Limitations list"/>
          <p:cNvSpPr txBox="1"/>
          <p:nvPr/>
        </p:nvSpPr>
        <p:spPr>
          <a:xfrm>
            <a:off x="868680" y="2560320"/>
            <a:ext cx="4800600" cy="3383280"/>
          </a:xfrm>
          <a:prstGeom prst="rect">
            <a:avLst/>
          </a:prstGeom>
          <a:noFill/>
          <a:ln/>
        </p:spPr>
        <p:txBody>
          <a:bodyPr wrap="square" lIns="0" tIns="0" rIns="0" bIns="0" rtlCol="0" anchor="t"/>
          <a:lstStyle/>
          <a:p>
            <a:pPr marL="342900" indent="-342900">
              <a:spcAft>
                <a:spcPts val="1600"/>
              </a:spcAft>
              <a:buSzPct val="100000"/>
              <a:buChar char="•"/>
            </a:pPr>
            <a:r>
              <a:rPr lang="en-US" sz="1900" dirty="0">
                <a:solidFill>
                  <a:schemeClr val="tx1"/>
                </a:solidFill>
                <a:latin typeface="Calibri" pitchFamily="34" charset="0"/>
                <a:ea typeface="Calibri" pitchFamily="34" charset="-122"/>
                <a:cs typeface="Calibri" pitchFamily="34" charset="-120"/>
              </a:rPr>
              <a:t>Real-model behaviour not yet verified</a:t>
            </a:r>
            <a:endParaRPr lang="en-US" sz="1900" dirty="0"/>
          </a:p>
          <a:p>
            <a:pPr marL="342900" indent="-342900">
              <a:spcAft>
                <a:spcPts val="1600"/>
              </a:spcAft>
              <a:buSzPct val="100000"/>
              <a:buChar char="•"/>
            </a:pPr>
            <a:r>
              <a:rPr lang="en-US" sz="1900" dirty="0">
                <a:solidFill>
                  <a:schemeClr val="tx1"/>
                </a:solidFill>
                <a:latin typeface="Calibri" pitchFamily="34" charset="0"/>
                <a:ea typeface="Calibri" pitchFamily="34" charset="-122"/>
                <a:cs typeface="Calibri" pitchFamily="34" charset="-120"/>
              </a:rPr>
              <a:t>Small models may pick the wrong tool</a:t>
            </a:r>
            <a:endParaRPr lang="en-US" sz="1900" dirty="0"/>
          </a:p>
          <a:p>
            <a:pPr marL="342900" indent="-342900">
              <a:spcAft>
                <a:spcPts val="1600"/>
              </a:spcAft>
              <a:buSzPct val="100000"/>
              <a:buChar char="•"/>
            </a:pPr>
            <a:r>
              <a:rPr lang="en-US" sz="1900" dirty="0">
                <a:solidFill>
                  <a:schemeClr val="tx1"/>
                </a:solidFill>
                <a:latin typeface="Calibri" pitchFamily="34" charset="0"/>
                <a:ea typeface="Calibri" pitchFamily="34" charset="-122"/>
                <a:cs typeface="Calibri" pitchFamily="34" charset="-120"/>
              </a:rPr>
              <a:t>CPU inference can be slow</a:t>
            </a:r>
            <a:endParaRPr lang="en-US" sz="1900" dirty="0"/>
          </a:p>
          <a:p>
            <a:pPr marL="342900" indent="-342900">
              <a:spcAft>
                <a:spcPts val="1600"/>
              </a:spcAft>
              <a:buSzPct val="100000"/>
              <a:buChar char="•"/>
            </a:pPr>
            <a:r>
              <a:rPr lang="en-US" sz="1900" dirty="0">
                <a:solidFill>
                  <a:schemeClr val="tx1"/>
                </a:solidFill>
                <a:latin typeface="Calibri" pitchFamily="34" charset="0"/>
                <a:ea typeface="Calibri" pitchFamily="34" charset="-122"/>
                <a:cs typeface="Calibri" pitchFamily="34" charset="-120"/>
              </a:rPr>
              <a:t>Cloud-model detection is name-based</a:t>
            </a:r>
            <a:endParaRPr lang="en-US" sz="1900" dirty="0"/>
          </a:p>
          <a:p>
            <a:pPr marL="342900" indent="-342900">
              <a:spcAft>
                <a:spcPts val="1600"/>
              </a:spcAft>
              <a:buSzPct val="100000"/>
              <a:buChar char="•"/>
            </a:pPr>
            <a:r>
              <a:rPr lang="en-US" sz="1900" dirty="0">
                <a:solidFill>
                  <a:schemeClr val="tx1"/>
                </a:solidFill>
                <a:latin typeface="Calibri" pitchFamily="34" charset="0"/>
                <a:ea typeface="Calibri" pitchFamily="34" charset="-122"/>
                <a:cs typeface="Calibri" pitchFamily="34" charset="-120"/>
              </a:rPr>
              <a:t>Notes not encrypted; single user</a:t>
            </a:r>
            <a:endParaRPr lang="en-US" sz="1900" dirty="0"/>
          </a:p>
        </p:txBody>
      </p:sp>
      <p:sp>
        <p:nvSpPr>
          <p:cNvPr id="9" name="a3: Future improvements card"/>
          <p:cNvSpPr/>
          <p:nvPr/>
        </p:nvSpPr>
        <p:spPr>
          <a:xfrm>
            <a:off x="6217920" y="1325880"/>
            <a:ext cx="5394960" cy="4754880"/>
          </a:xfrm>
          <a:prstGeom prst="roundRect">
            <a:avLst>
              <a:gd name="adj" fmla="val 2308"/>
            </a:avLst>
          </a:prstGeom>
          <a:solidFill>
            <a:schemeClr val="bg2"/>
          </a:solidFill>
          <a:ln w="12700">
            <a:solidFill>
              <a:schemeClr val="accent6"/>
            </a:solidFill>
            <a:prstDash val="solid"/>
          </a:ln>
        </p:spPr>
      </p:sp>
      <p:sp>
        <p:nvSpPr>
          <p:cNvPr id="10" name="a3: Future improvements circle"/>
          <p:cNvSpPr/>
          <p:nvPr/>
        </p:nvSpPr>
        <p:spPr>
          <a:xfrm>
            <a:off x="6492240" y="1554480"/>
            <a:ext cx="685800" cy="685800"/>
          </a:xfrm>
          <a:prstGeom prst="ellipse">
            <a:avLst/>
          </a:prstGeom>
          <a:solidFill>
            <a:schemeClr val="bg1"/>
          </a:solidFill>
          <a:ln w="19050">
            <a:solidFill>
              <a:schemeClr val="accent1"/>
            </a:solidFill>
            <a:prstDash val="solid"/>
          </a:ln>
        </p:spPr>
      </p:sp>
      <p:pic>
        <p:nvPicPr>
          <p:cNvPr id="11" name="a3: Future improvements icon" descr="">    </p:cNvPr>
          <p:cNvPicPr>
            <a:picLocks noChangeAspect="1"/>
          </p:cNvPicPr>
          <p:nvPr/>
        </p:nvPicPr>
        <p:blipFill>
          <a:blip r:embed="rId8"/>
          <a:stretch>
            <a:fillRect/>
          </a:stretch>
        </p:blipFill>
        <p:spPr>
          <a:xfrm>
            <a:off x="6643116" y="1705356"/>
            <a:ext cx="384048" cy="384048"/>
          </a:xfrm>
          <a:prstGeom prst="rect">
            <a:avLst/>
          </a:prstGeom>
        </p:spPr>
      </p:pic>
      <p:sp>
        <p:nvSpPr>
          <p:cNvPr id="12" name="a3: Future improvements head"/>
          <p:cNvSpPr txBox="1"/>
          <p:nvPr/>
        </p:nvSpPr>
        <p:spPr>
          <a:xfrm>
            <a:off x="7360920" y="1691640"/>
            <a:ext cx="4023360" cy="411480"/>
          </a:xfrm>
          <a:prstGeom prst="rect">
            <a:avLst/>
          </a:prstGeom>
          <a:noFill/>
          <a:ln/>
        </p:spPr>
        <p:txBody>
          <a:bodyPr wrap="square" lIns="0" tIns="0" rIns="0" bIns="0" rtlCol="0" anchor="t"/>
          <a:lstStyle/>
          <a:p>
            <a:pPr indent="0" marL="0">
              <a:buNone/>
            </a:pPr>
            <a:r>
              <a:rPr lang="en-US" sz="2000" b="1" dirty="0">
                <a:solidFill>
                  <a:schemeClr val="accent1"/>
                </a:solidFill>
                <a:latin typeface="Calibri" pitchFamily="34" charset="0"/>
                <a:ea typeface="Calibri" pitchFamily="34" charset="-122"/>
                <a:cs typeface="Calibri" pitchFamily="34" charset="-120"/>
              </a:rPr>
              <a:t>Future improvements</a:t>
            </a:r>
            <a:endParaRPr lang="en-US" sz="2000" dirty="0"/>
          </a:p>
        </p:txBody>
      </p:sp>
      <p:sp>
        <p:nvSpPr>
          <p:cNvPr id="13" name="a4: Future improvements list"/>
          <p:cNvSpPr txBox="1"/>
          <p:nvPr/>
        </p:nvSpPr>
        <p:spPr>
          <a:xfrm>
            <a:off x="6537960" y="2560320"/>
            <a:ext cx="4800600" cy="3383280"/>
          </a:xfrm>
          <a:prstGeom prst="rect">
            <a:avLst/>
          </a:prstGeom>
          <a:noFill/>
          <a:ln/>
        </p:spPr>
        <p:txBody>
          <a:bodyPr wrap="square" lIns="0" tIns="0" rIns="0" bIns="0" rtlCol="0" anchor="t"/>
          <a:lstStyle/>
          <a:p>
            <a:pPr marL="342900" indent="-342900">
              <a:spcAft>
                <a:spcPts val="1600"/>
              </a:spcAft>
              <a:buSzPct val="100000"/>
              <a:buChar char="•"/>
            </a:pPr>
            <a:r>
              <a:rPr lang="en-US" sz="1900" dirty="0">
                <a:solidFill>
                  <a:schemeClr val="tx1"/>
                </a:solidFill>
                <a:latin typeface="Calibri" pitchFamily="34" charset="0"/>
                <a:ea typeface="Calibri" pitchFamily="34" charset="-122"/>
                <a:cs typeface="Calibri" pitchFamily="34" charset="-120"/>
              </a:rPr>
              <a:t>Measure tool-selection accuracy and latency (5 runs × 3 models)</a:t>
            </a:r>
            <a:endParaRPr lang="en-US" sz="1900" dirty="0"/>
          </a:p>
          <a:p>
            <a:pPr marL="342900" indent="-342900">
              <a:spcAft>
                <a:spcPts val="1600"/>
              </a:spcAft>
              <a:buSzPct val="100000"/>
              <a:buChar char="•"/>
            </a:pPr>
            <a:r>
              <a:rPr lang="en-US" sz="1900" dirty="0">
                <a:solidFill>
                  <a:schemeClr val="tx1"/>
                </a:solidFill>
                <a:latin typeface="Calibri" pitchFamily="34" charset="0"/>
                <a:ea typeface="Calibri" pitchFamily="34" charset="-122"/>
                <a:cs typeface="Calibri" pitchFamily="34" charset="-120"/>
              </a:rPr>
              <a:t>Note editing with confirmation</a:t>
            </a:r>
            <a:endParaRPr lang="en-US" sz="1900" dirty="0"/>
          </a:p>
          <a:p>
            <a:pPr marL="342900" indent="-342900">
              <a:spcAft>
                <a:spcPts val="1600"/>
              </a:spcAft>
              <a:buSzPct val="100000"/>
              <a:buChar char="•"/>
            </a:pPr>
            <a:r>
              <a:rPr lang="en-US" sz="1900" dirty="0">
                <a:solidFill>
                  <a:schemeClr val="tx1"/>
                </a:solidFill>
                <a:latin typeface="Calibri" pitchFamily="34" charset="0"/>
                <a:ea typeface="Calibri" pitchFamily="34" charset="-122"/>
                <a:cs typeface="Calibri" pitchFamily="34" charset="-120"/>
              </a:rPr>
              <a:t>Keyword search over a chosen folder</a:t>
            </a:r>
            <a:endParaRPr lang="en-US" sz="1900" dirty="0"/>
          </a:p>
          <a:p>
            <a:pPr marL="342900" indent="-342900">
              <a:spcAft>
                <a:spcPts val="1600"/>
              </a:spcAft>
              <a:buSzPct val="100000"/>
              <a:buChar char="•"/>
            </a:pPr>
            <a:r>
              <a:rPr lang="en-US" sz="1900" dirty="0">
                <a:solidFill>
                  <a:schemeClr val="tx1"/>
                </a:solidFill>
                <a:latin typeface="Calibri" pitchFamily="34" charset="0"/>
                <a:ea typeface="Calibri" pitchFamily="34" charset="-122"/>
                <a:cs typeface="Calibri" pitchFamily="34" charset="-120"/>
              </a:rPr>
              <a:t>Streaming responses</a:t>
            </a:r>
            <a:endParaRPr lang="en-US" sz="1900" dirty="0"/>
          </a:p>
          <a:p>
            <a:pPr marL="342900" indent="-342900">
              <a:spcAft>
                <a:spcPts val="1600"/>
              </a:spcAft>
              <a:buSzPct val="100000"/>
              <a:buChar char="•"/>
            </a:pPr>
            <a:r>
              <a:rPr lang="en-US" sz="1900" dirty="0">
                <a:solidFill>
                  <a:schemeClr val="tx1"/>
                </a:solidFill>
                <a:latin typeface="Calibri" pitchFamily="34" charset="0"/>
                <a:ea typeface="Calibri" pitchFamily="34" charset="-122"/>
                <a:cs typeface="Calibri" pitchFamily="34" charset="-120"/>
              </a:rPr>
              <a:t>Optional encryption of notes</a:t>
            </a:r>
            <a:endParaRPr lang="en-US" sz="1900" dirty="0"/>
          </a:p>
        </p:txBody>
      </p:sp>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7"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21" fill="hold">
                            <p:stCondLst>
                              <p:cond delay="35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34" fill="hold">
                            <p:stCondLst>
                              <p:cond delay="70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par>
                          <p:cTn id="38" fill="hold">
                            <p:stCondLst>
                              <p:cond delay="1050"/>
                            </p:stCondLst>
                            <p:childTnLst>
                              <p:par>
                                <p:cTn id="35" presetID="10" presetClass="entr" presetSubtype="0"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Conclusion and references</a:t>
            </a:r>
            <a:endParaRPr lang="en-US" sz="3200" dirty="0"/>
          </a:p>
        </p:txBody>
      </p:sp>
      <p:sp>
        <p:nvSpPr>
          <p:cNvPr id="3" name="Section navigation"/>
          <p:cNvSpPr txBox="1"/>
          <p:nvPr/>
        </p:nvSpPr>
        <p:spPr>
          <a:xfrm>
            <a:off x="4206240" y="6400800"/>
            <a:ext cx="6766560" cy="274320"/>
          </a:xfrm>
          <a:prstGeom prst="rect">
            <a:avLst/>
          </a:prstGeom>
          <a:noFill/>
          <a:ln/>
        </p:spPr>
        <p:txBody>
          <a:bodyPr wrap="square" lIns="0" tIns="0" rIns="0" bIns="0" rtlCol="0" anchor="t"/>
          <a:lstStyle/>
          <a:p>
            <a:pPr algn="r" indent="0" marL="0">
              <a:buNone/>
            </a:pPr>
            <a:r>
              <a:rPr lang="en-US" sz="1000" u="sng" dirty="0">
                <a:solidFill>
                  <a:schemeClr val="tx2"/>
                </a:solidFill>
                <a:latin typeface="Calibri" pitchFamily="34" charset="0"/>
                <a:ea typeface="Calibri" pitchFamily="34" charset="-122"/>
                <a:cs typeface="Calibri" pitchFamily="34" charset="-120"/>
                <a:hlinkClick r:id="rId1" action="ppaction://hlinksldjump" tooltip="Go to Home">
                  <a:extLst>
                    <a:ext uri="{A12FA001-AC4F-418D-AE19-62706E023703}">
                      <ahyp:hlinkClr xmlns:ahyp="http://schemas.microsoft.com/office/drawing/2018/hyperlinkcolor" val="tx"/>
                    </a:ext>
                  </a:extLst>
                </a:hlinkClick>
              </a:rPr>
              <a:t>Home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2" action="ppaction://hlinksldjump" tooltip="Go to Architecture">
                  <a:extLst>
                    <a:ext uri="{A12FA001-AC4F-418D-AE19-62706E023703}">
                      <ahyp:hlinkClr xmlns:ahyp="http://schemas.microsoft.com/office/drawing/2018/hyperlinkcolor" val="tx"/>
                    </a:ext>
                  </a:extLst>
                </a:hlinkClick>
              </a:rPr>
              <a:t>Architecture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3" action="ppaction://hlinksldjump" tooltip="Go to Pipeline">
                  <a:extLst>
                    <a:ext uri="{A12FA001-AC4F-418D-AE19-62706E023703}">
                      <ahyp:hlinkClr xmlns:ahyp="http://schemas.microsoft.com/office/drawing/2018/hyperlinkcolor" val="tx"/>
                    </a:ext>
                  </a:extLst>
                </a:hlinkClick>
              </a:rPr>
              <a:t>Pipeline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4" action="ppaction://hlinksldjump" tooltip="Go to Security">
                  <a:extLst>
                    <a:ext uri="{A12FA001-AC4F-418D-AE19-62706E023703}">
                      <ahyp:hlinkClr xmlns:ahyp="http://schemas.microsoft.com/office/drawing/2018/hyperlinkcolor" val="tx"/>
                    </a:ext>
                  </a:extLst>
                </a:hlinkClick>
              </a:rPr>
              <a:t>Security</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5" action="ppaction://hlinksldjump" tooltip="Go to Results">
                  <a:extLst>
                    <a:ext uri="{A12FA001-AC4F-418D-AE19-62706E023703}">
                      <ahyp:hlinkClr xmlns:ahyp="http://schemas.microsoft.com/office/drawing/2018/hyperlinkcolor" val="tx"/>
                    </a:ext>
                  </a:extLst>
                </a:hlinkClick>
              </a:rPr>
              <a:t>Results</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6" action="ppaction://hlinksldjump" tooltip="Go to Contact">
                  <a:extLst>
                    <a:ext uri="{A12FA001-AC4F-418D-AE19-62706E023703}">
                      <ahyp:hlinkClr xmlns:ahyp="http://schemas.microsoft.com/office/drawing/2018/hyperlinkcolor" val="tx"/>
                    </a:ext>
                  </a:extLst>
                </a:hlinkClick>
              </a:rPr>
              <a:t>Contact</a:t>
            </a:r>
            <a:endParaRPr lang="en-US" sz="1000" dirty="0"/>
          </a:p>
        </p:txBody>
      </p:sp>
      <p:sp>
        <p:nvSpPr>
          <p:cNvPr id="4" name="a1: Message"/>
          <p:cNvSpPr txBox="1"/>
          <p:nvPr/>
        </p:nvSpPr>
        <p:spPr>
          <a:xfrm>
            <a:off x="548640" y="1325880"/>
            <a:ext cx="11064240" cy="868680"/>
          </a:xfrm>
          <a:prstGeom prst="rect">
            <a:avLst/>
          </a:prstGeom>
          <a:noFill/>
          <a:ln/>
        </p:spPr>
        <p:txBody>
          <a:bodyPr wrap="square" lIns="0" tIns="0" rIns="0" bIns="0" rtlCol="0" anchor="t"/>
          <a:lstStyle/>
          <a:p>
            <a:pPr indent="0" marL="0">
              <a:buNone/>
            </a:pPr>
            <a:r>
              <a:rPr lang="en-US" sz="2000" i="1" dirty="0">
                <a:solidFill>
                  <a:schemeClr val="accent1"/>
                </a:solidFill>
                <a:latin typeface="Calibri" pitchFamily="34" charset="0"/>
                <a:ea typeface="Calibri" pitchFamily="34" charset="-122"/>
                <a:cs typeface="Calibri" pitchFamily="34" charset="-120"/>
              </a:rPr>
              <a:t>A language model is good at deciding what to do. Exact, safe, auditable doing belongs in validated code. AgentForge keeps both on your own computer.</a:t>
            </a:r>
            <a:endParaRPr lang="en-US" sz="2000" dirty="0"/>
          </a:p>
        </p:txBody>
      </p:sp>
      <p:sp>
        <p:nvSpPr>
          <p:cNvPr id="5" name="a2: References card"/>
          <p:cNvSpPr/>
          <p:nvPr/>
        </p:nvSpPr>
        <p:spPr>
          <a:xfrm>
            <a:off x="548640" y="2423160"/>
            <a:ext cx="11064240" cy="3429000"/>
          </a:xfrm>
          <a:prstGeom prst="roundRect">
            <a:avLst>
              <a:gd name="adj" fmla="val 3200"/>
            </a:avLst>
          </a:prstGeom>
          <a:solidFill>
            <a:schemeClr val="bg2"/>
          </a:solidFill>
          <a:ln w="12700">
            <a:solidFill>
              <a:schemeClr val="accent6"/>
            </a:solidFill>
            <a:prstDash val="solid"/>
          </a:ln>
        </p:spPr>
      </p:sp>
      <p:sp>
        <p:nvSpPr>
          <p:cNvPr id="6" name="a3: References"/>
          <p:cNvSpPr txBox="1"/>
          <p:nvPr/>
        </p:nvSpPr>
        <p:spPr>
          <a:xfrm>
            <a:off x="822960" y="2651760"/>
            <a:ext cx="10515600" cy="3108960"/>
          </a:xfrm>
          <a:prstGeom prst="rect">
            <a:avLst/>
          </a:prstGeom>
          <a:noFill/>
          <a:ln/>
        </p:spPr>
        <p:txBody>
          <a:bodyPr wrap="square" lIns="0" tIns="0" rIns="0" bIns="0" rtlCol="0" anchor="t"/>
          <a:lstStyle/>
          <a:p>
            <a:pPr indent="0" marL="0">
              <a:spcAft>
                <a:spcPts val="900"/>
              </a:spcAft>
              <a:buNone/>
            </a:pPr>
            <a:r>
              <a:rPr lang="en-US" sz="1600" b="1" dirty="0">
                <a:solidFill>
                  <a:schemeClr val="accent2"/>
                </a:solidFill>
                <a:latin typeface="Calibri" pitchFamily="34" charset="0"/>
                <a:ea typeface="Calibri" pitchFamily="34" charset="-122"/>
                <a:cs typeface="Calibri" pitchFamily="34" charset="-120"/>
              </a:rPr>
              <a:t>References</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S. Yao et al., “ReAct: Synergizing Reasoning and Acting in Language Models,” ICLR 2023, arXiv:2210.03629.</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T. Schick et al., “Toolformer: Language Models Can Teach Themselves to Use Tools,” NeurIPS 2023, arXiv:2302.04761.</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A. Yang et al. (Qwen Team), “Qwen3 Technical Report,” arXiv:2505.09388, 2025.</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Ollama, https://ollama.com (accessed October 2026).</a:t>
            </a:r>
            <a:endParaRPr lang="en-US" sz="1600" dirty="0"/>
          </a:p>
          <a:p>
            <a:pPr marL="342900" indent="-342900">
              <a:spcAft>
                <a:spcPts val="900"/>
              </a:spcAft>
              <a:buSzPct val="100000"/>
              <a:buChar char="•"/>
            </a:pPr>
            <a:r>
              <a:rPr lang="en-US" sz="1600" u="sng" dirty="0">
                <a:solidFill>
                  <a:schemeClr val="tx1"/>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Upstream baseline: B. Kandala, Fully-Offline-AI-agent-using-SLM, MIT licence, commit ef2d5f5.</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Full report: docs/PROJECT_REPORT.md in the repository.</a:t>
            </a:r>
            <a:endParaRPr lang="en-US" sz="1600" dirty="0"/>
          </a:p>
        </p:txBody>
      </p:sp>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11</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8"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12" fill="hold">
                            <p:stCondLst>
                              <p:cond delay="3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6" fill="hold">
                            <p:stCondLst>
                              <p:cond delay="7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Maintainer and contact</a:t>
            </a:r>
            <a:endParaRPr lang="en-US" sz="3200" dirty="0"/>
          </a:p>
        </p:txBody>
      </p:sp>
      <p:sp>
        <p:nvSpPr>
          <p:cNvPr id="3" name="Section navigation"/>
          <p:cNvSpPr txBox="1"/>
          <p:nvPr/>
        </p:nvSpPr>
        <p:spPr>
          <a:xfrm>
            <a:off x="4206240" y="6400800"/>
            <a:ext cx="6766560" cy="274320"/>
          </a:xfrm>
          <a:prstGeom prst="rect">
            <a:avLst/>
          </a:prstGeom>
          <a:noFill/>
          <a:ln/>
        </p:spPr>
        <p:txBody>
          <a:bodyPr wrap="square" lIns="0" tIns="0" rIns="0" bIns="0" rtlCol="0" anchor="t"/>
          <a:lstStyle/>
          <a:p>
            <a:pPr algn="r" indent="0" marL="0">
              <a:buNone/>
            </a:pPr>
            <a:r>
              <a:rPr lang="en-US" sz="1000" u="sng" dirty="0">
                <a:solidFill>
                  <a:schemeClr val="tx2"/>
                </a:solidFill>
                <a:latin typeface="Calibri" pitchFamily="34" charset="0"/>
                <a:ea typeface="Calibri" pitchFamily="34" charset="-122"/>
                <a:cs typeface="Calibri" pitchFamily="34" charset="-120"/>
                <a:hlinkClick r:id="rId1" action="ppaction://hlinksldjump" tooltip="Go to Home">
                  <a:extLst>
                    <a:ext uri="{A12FA001-AC4F-418D-AE19-62706E023703}">
                      <ahyp:hlinkClr xmlns:ahyp="http://schemas.microsoft.com/office/drawing/2018/hyperlinkcolor" val="tx"/>
                    </a:ext>
                  </a:extLst>
                </a:hlinkClick>
              </a:rPr>
              <a:t>Home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2" action="ppaction://hlinksldjump" tooltip="Go to Architecture">
                  <a:extLst>
                    <a:ext uri="{A12FA001-AC4F-418D-AE19-62706E023703}">
                      <ahyp:hlinkClr xmlns:ahyp="http://schemas.microsoft.com/office/drawing/2018/hyperlinkcolor" val="tx"/>
                    </a:ext>
                  </a:extLst>
                </a:hlinkClick>
              </a:rPr>
              <a:t>Architecture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3" action="ppaction://hlinksldjump" tooltip="Go to Pipeline">
                  <a:extLst>
                    <a:ext uri="{A12FA001-AC4F-418D-AE19-62706E023703}">
                      <ahyp:hlinkClr xmlns:ahyp="http://schemas.microsoft.com/office/drawing/2018/hyperlinkcolor" val="tx"/>
                    </a:ext>
                  </a:extLst>
                </a:hlinkClick>
              </a:rPr>
              <a:t>Pipeline</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4" action="ppaction://hlinksldjump" tooltip="Go to Security">
                  <a:extLst>
                    <a:ext uri="{A12FA001-AC4F-418D-AE19-62706E023703}">
                      <ahyp:hlinkClr xmlns:ahyp="http://schemas.microsoft.com/office/drawing/2018/hyperlinkcolor" val="tx"/>
                    </a:ext>
                  </a:extLst>
                </a:hlinkClick>
              </a:rPr>
              <a:t>Security</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u="sng" dirty="0">
                <a:solidFill>
                  <a:schemeClr val="tx2"/>
                </a:solidFill>
                <a:latin typeface="Calibri" pitchFamily="34" charset="0"/>
                <a:ea typeface="Calibri" pitchFamily="34" charset="-122"/>
                <a:cs typeface="Calibri" pitchFamily="34" charset="-120"/>
                <a:hlinkClick r:id="rId5" action="ppaction://hlinksldjump" tooltip="Go to Results">
                  <a:extLst>
                    <a:ext uri="{A12FA001-AC4F-418D-AE19-62706E023703}">
                      <ahyp:hlinkClr xmlns:ahyp="http://schemas.microsoft.com/office/drawing/2018/hyperlinkcolor" val="tx"/>
                    </a:ext>
                  </a:extLst>
                </a:hlinkClick>
              </a:rPr>
              <a:t>Results</a:t>
            </a:r>
            <a:pPr algn="r" indent="0" marL="0">
              <a:buNone/>
            </a:pPr>
            <a:r>
              <a:rPr lang="en-US" sz="1000" dirty="0">
                <a:solidFill>
                  <a:schemeClr val="accent6"/>
                </a:solidFill>
                <a:latin typeface="Calibri" pitchFamily="34" charset="0"/>
                <a:ea typeface="Calibri" pitchFamily="34" charset="-122"/>
                <a:cs typeface="Calibri" pitchFamily="34" charset="-120"/>
              </a:rPr>
              <a:t>  ·  </a:t>
            </a:r>
            <a:pPr algn="r" indent="0" marL="0">
              <a:buNone/>
            </a:pPr>
            <a:r>
              <a:rPr lang="en-US" sz="1000" b="1" dirty="0">
                <a:solidFill>
                  <a:schemeClr val="accent1"/>
                </a:solidFill>
                <a:latin typeface="Calibri" pitchFamily="34" charset="0"/>
                <a:ea typeface="Calibri" pitchFamily="34" charset="-122"/>
                <a:cs typeface="Calibri" pitchFamily="34" charset="-120"/>
              </a:rPr>
              <a:t>Contact</a:t>
            </a:r>
            <a:endParaRPr lang="en-US" sz="1000" dirty="0"/>
          </a:p>
        </p:txBody>
      </p:sp>
      <p:sp>
        <p:nvSpPr>
          <p:cNvPr id="4" name="a1: Glow"/>
          <p:cNvSpPr/>
          <p:nvPr/>
        </p:nvSpPr>
        <p:spPr>
          <a:xfrm>
            <a:off x="8229600" y="2377440"/>
            <a:ext cx="5029200" cy="5029200"/>
          </a:xfrm>
          <a:prstGeom prst="ellipse">
            <a:avLst/>
          </a:prstGeom>
          <a:solidFill>
            <a:schemeClr val="accent2">
              <a:alpha val="10000"/>
            </a:schemeClr>
          </a:solidFill>
          <a:ln w="12700">
            <a:solidFill>
              <a:schemeClr val="accent2">
                <a:alpha val="0"/>
              </a:schemeClr>
            </a:solidFill>
            <a:prstDash val="solid"/>
          </a:ln>
        </p:spPr>
      </p:sp>
      <p:pic>
        <p:nvPicPr>
          <p:cNvPr id="5" name="a1: Logo" descr="AgentForge logo">    </p:cNvPr>
          <p:cNvPicPr>
            <a:picLocks noChangeAspect="1"/>
          </p:cNvPicPr>
          <p:nvPr/>
        </p:nvPicPr>
        <p:blipFill>
          <a:blip r:embed="rId6"/>
          <a:stretch>
            <a:fillRect/>
          </a:stretch>
        </p:blipFill>
        <p:spPr>
          <a:xfrm>
            <a:off x="548640" y="1417320"/>
            <a:ext cx="868680" cy="868680"/>
          </a:xfrm>
          <a:prstGeom prst="rect">
            <a:avLst/>
          </a:prstGeom>
        </p:spPr>
      </p:pic>
      <p:sp>
        <p:nvSpPr>
          <p:cNvPr id="6" name="a1: Name"/>
          <p:cNvSpPr txBox="1"/>
          <p:nvPr/>
        </p:nvSpPr>
        <p:spPr>
          <a:xfrm>
            <a:off x="1645920" y="1371600"/>
            <a:ext cx="9966960" cy="96012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Saqib Ahmad Bhat</a:t>
            </a:r>
            <a:endParaRPr lang="en-US" sz="2800" dirty="0"/>
          </a:p>
          <a:p>
            <a:pPr indent="0" marL="0">
              <a:buNone/>
            </a:pPr>
            <a:r>
              <a:rPr lang="en-US" sz="1400" dirty="0">
                <a:solidFill>
                  <a:schemeClr val="tx2"/>
                </a:solidFill>
                <a:latin typeface="Calibri" pitchFamily="34" charset="0"/>
                <a:ea typeface="Calibri" pitchFamily="34" charset="-122"/>
                <a:cs typeface="Calibri" pitchFamily="34" charset="-120"/>
              </a:rPr>
              <a:t>Student Developer · B.E. Computer Science and Engineering · Government College of Engineering, Tirunelveli, Tamil Nadu, India</a:t>
            </a:r>
            <a:endParaRPr lang="en-US" sz="2800" dirty="0"/>
          </a:p>
        </p:txBody>
      </p:sp>
      <p:pic>
        <p:nvPicPr>
          <p:cNvPr id="7" name="a2: Contact 0 icon" descr="">    </p:cNvPr>
          <p:cNvPicPr>
            <a:picLocks noChangeAspect="1"/>
          </p:cNvPicPr>
          <p:nvPr/>
        </p:nvPicPr>
        <p:blipFill>
          <a:blip r:embed="rId7"/>
          <a:stretch>
            <a:fillRect/>
          </a:stretch>
        </p:blipFill>
        <p:spPr>
          <a:xfrm>
            <a:off x="685800" y="2743200"/>
            <a:ext cx="329184" cy="329184"/>
          </a:xfrm>
          <a:prstGeom prst="rect">
            <a:avLst/>
          </a:prstGeom>
        </p:spPr>
      </p:pic>
      <p:sp>
        <p:nvSpPr>
          <p:cNvPr id="8" name="a2: Contact 0 link"/>
          <p:cNvSpPr txBox="1"/>
          <p:nvPr/>
        </p:nvSpPr>
        <p:spPr>
          <a:xfrm>
            <a:off x="1188720" y="2697480"/>
            <a:ext cx="6400800" cy="420624"/>
          </a:xfrm>
          <a:prstGeom prst="rect">
            <a:avLst/>
          </a:prstGeom>
          <a:noFill/>
          <a:ln/>
        </p:spPr>
        <p:txBody>
          <a:bodyPr wrap="square" lIns="0" tIns="0" rIns="0" bIns="0" rtlCol="0" anchor="ctr"/>
          <a:lstStyle/>
          <a:p>
            <a:pPr indent="0" marL="0">
              <a:buNone/>
            </a:pPr>
            <a:r>
              <a:rPr lang="en-US" sz="1700" u="sng" dirty="0">
                <a:solidFill>
                  <a:schemeClr val="tx1"/>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saqibahmadbhat885@gmail.com</a:t>
            </a:r>
            <a:endParaRPr lang="en-US" sz="1700" dirty="0"/>
          </a:p>
        </p:txBody>
      </p:sp>
      <p:pic>
        <p:nvPicPr>
          <p:cNvPr id="9" name="a3: Contact 1 icon" descr="">    </p:cNvPr>
          <p:cNvPicPr>
            <a:picLocks noChangeAspect="1"/>
          </p:cNvPicPr>
          <p:nvPr/>
        </p:nvPicPr>
        <p:blipFill>
          <a:blip r:embed="rId9"/>
          <a:stretch>
            <a:fillRect/>
          </a:stretch>
        </p:blipFill>
        <p:spPr>
          <a:xfrm>
            <a:off x="685800" y="3310128"/>
            <a:ext cx="329184" cy="329184"/>
          </a:xfrm>
          <a:prstGeom prst="rect">
            <a:avLst/>
          </a:prstGeom>
        </p:spPr>
      </p:pic>
      <p:sp>
        <p:nvSpPr>
          <p:cNvPr id="10" name="a3: Contact 1 link"/>
          <p:cNvSpPr txBox="1"/>
          <p:nvPr/>
        </p:nvSpPr>
        <p:spPr>
          <a:xfrm>
            <a:off x="1188720" y="3264408"/>
            <a:ext cx="6400800" cy="420624"/>
          </a:xfrm>
          <a:prstGeom prst="rect">
            <a:avLst/>
          </a:prstGeom>
          <a:noFill/>
          <a:ln/>
        </p:spPr>
        <p:txBody>
          <a:bodyPr wrap="square" lIns="0" tIns="0" rIns="0" bIns="0" rtlCol="0" anchor="ctr"/>
          <a:lstStyle/>
          <a:p>
            <a:pPr indent="0" marL="0">
              <a:buNone/>
            </a:pPr>
            <a:r>
              <a:rPr lang="en-US" sz="1700" u="sng" dirty="0">
                <a:solidFill>
                  <a:schemeClr val="tx1"/>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linkedin.com/in/saqibahmadbhat</a:t>
            </a:r>
            <a:endParaRPr lang="en-US" sz="1700" dirty="0"/>
          </a:p>
        </p:txBody>
      </p:sp>
      <p:pic>
        <p:nvPicPr>
          <p:cNvPr id="11" name="a4: Contact 2 icon" descr="">    </p:cNvPr>
          <p:cNvPicPr>
            <a:picLocks noChangeAspect="1"/>
          </p:cNvPicPr>
          <p:nvPr/>
        </p:nvPicPr>
        <p:blipFill>
          <a:blip r:embed="rId11"/>
          <a:stretch>
            <a:fillRect/>
          </a:stretch>
        </p:blipFill>
        <p:spPr>
          <a:xfrm>
            <a:off x="685800" y="3877056"/>
            <a:ext cx="329184" cy="329184"/>
          </a:xfrm>
          <a:prstGeom prst="rect">
            <a:avLst/>
          </a:prstGeom>
        </p:spPr>
      </p:pic>
      <p:sp>
        <p:nvSpPr>
          <p:cNvPr id="12" name="a4: Contact 2 link"/>
          <p:cNvSpPr txBox="1"/>
          <p:nvPr/>
        </p:nvSpPr>
        <p:spPr>
          <a:xfrm>
            <a:off x="1188720" y="3831336"/>
            <a:ext cx="6400800" cy="420624"/>
          </a:xfrm>
          <a:prstGeom prst="rect">
            <a:avLst/>
          </a:prstGeom>
          <a:noFill/>
          <a:ln/>
        </p:spPr>
        <p:txBody>
          <a:bodyPr wrap="square" lIns="0" tIns="0" rIns="0" bIns="0" rtlCol="0" anchor="ctr"/>
          <a:lstStyle/>
          <a:p>
            <a:pPr indent="0" marL="0">
              <a:buNone/>
            </a:pPr>
            <a:r>
              <a:rPr lang="en-US" sz="1700" u="sng" dirty="0">
                <a:solidFill>
                  <a:schemeClr val="tx1"/>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ORCID 0009-0003-9248-6174</a:t>
            </a:r>
            <a:endParaRPr lang="en-US" sz="1700" dirty="0"/>
          </a:p>
        </p:txBody>
      </p:sp>
      <p:pic>
        <p:nvPicPr>
          <p:cNvPr id="13" name="a5: Contact 3 icon" descr="">    </p:cNvPr>
          <p:cNvPicPr>
            <a:picLocks noChangeAspect="1"/>
          </p:cNvPicPr>
          <p:nvPr/>
        </p:nvPicPr>
        <p:blipFill>
          <a:blip r:embed="rId13"/>
          <a:stretch>
            <a:fillRect/>
          </a:stretch>
        </p:blipFill>
        <p:spPr>
          <a:xfrm>
            <a:off x="685800" y="4443984"/>
            <a:ext cx="329184" cy="329184"/>
          </a:xfrm>
          <a:prstGeom prst="rect">
            <a:avLst/>
          </a:prstGeom>
        </p:spPr>
      </p:pic>
      <p:sp>
        <p:nvSpPr>
          <p:cNvPr id="14" name="a5: Contact 3 link"/>
          <p:cNvSpPr txBox="1"/>
          <p:nvPr/>
        </p:nvSpPr>
        <p:spPr>
          <a:xfrm>
            <a:off x="1188720" y="4398264"/>
            <a:ext cx="6400800" cy="420624"/>
          </a:xfrm>
          <a:prstGeom prst="rect">
            <a:avLst/>
          </a:prstGeom>
          <a:noFill/>
          <a:ln/>
        </p:spPr>
        <p:txBody>
          <a:bodyPr wrap="square" lIns="0" tIns="0" rIns="0" bIns="0" rtlCol="0" anchor="ctr"/>
          <a:lstStyle/>
          <a:p>
            <a:pPr indent="0" marL="0">
              <a:buNone/>
            </a:pPr>
            <a:r>
              <a:rPr lang="en-US" sz="1700" u="sng" dirty="0">
                <a:solidFill>
                  <a:schemeClr val="tx1"/>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github.com/SaqibAhmadBhat/agentforge-local-ai</a:t>
            </a:r>
            <a:endParaRPr lang="en-US" sz="1700" dirty="0"/>
          </a:p>
        </p:txBody>
      </p:sp>
      <p:pic>
        <p:nvPicPr>
          <p:cNvPr id="15" name="a6: Contact 4 icon" descr="">    </p:cNvPr>
          <p:cNvPicPr>
            <a:picLocks noChangeAspect="1"/>
          </p:cNvPicPr>
          <p:nvPr/>
        </p:nvPicPr>
        <p:blipFill>
          <a:blip r:embed="rId15"/>
          <a:stretch>
            <a:fillRect/>
          </a:stretch>
        </p:blipFill>
        <p:spPr>
          <a:xfrm>
            <a:off x="685800" y="5010912"/>
            <a:ext cx="329184" cy="329184"/>
          </a:xfrm>
          <a:prstGeom prst="rect">
            <a:avLst/>
          </a:prstGeom>
        </p:spPr>
      </p:pic>
      <p:sp>
        <p:nvSpPr>
          <p:cNvPr id="16" name="a6: Contact 4 link"/>
          <p:cNvSpPr txBox="1"/>
          <p:nvPr/>
        </p:nvSpPr>
        <p:spPr>
          <a:xfrm>
            <a:off x="1188720" y="4965192"/>
            <a:ext cx="6400800" cy="420624"/>
          </a:xfrm>
          <a:prstGeom prst="rect">
            <a:avLst/>
          </a:prstGeom>
          <a:noFill/>
          <a:ln/>
        </p:spPr>
        <p:txBody>
          <a:bodyPr wrap="square" lIns="0" tIns="0" rIns="0" bIns="0" rtlCol="0" anchor="ctr"/>
          <a:lstStyle/>
          <a:p>
            <a:pPr indent="0" marL="0">
              <a:buNone/>
            </a:pPr>
            <a:r>
              <a:rPr lang="en-US" sz="1700" u="sng" dirty="0">
                <a:solidFill>
                  <a:schemeClr val="tx1"/>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saqibahmadbhat.github.io/agentforge-local-ai</a:t>
            </a:r>
            <a:endParaRPr lang="en-US" sz="1700" dirty="0"/>
          </a:p>
        </p:txBody>
      </p:sp>
      <p:sp>
        <p:nvSpPr>
          <p:cNvPr id="17" name="a7: Acknowledgements"/>
          <p:cNvSpPr txBox="1"/>
          <p:nvPr/>
        </p:nvSpPr>
        <p:spPr>
          <a:xfrm>
            <a:off x="548640" y="5623560"/>
            <a:ext cx="11064240" cy="68580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Academic context: </a:t>
            </a:r>
            <a:pPr indent="0" marL="0">
              <a:buNone/>
            </a:pPr>
            <a:r>
              <a:rPr lang="en-US" sz="1300" dirty="0">
                <a:solidFill>
                  <a:schemeClr val="tx2"/>
                </a:solidFill>
                <a:latin typeface="Calibri" pitchFamily="34" charset="0"/>
                <a:ea typeface="Calibri" pitchFamily="34" charset="-122"/>
                <a:cs typeface="Calibri" pitchFamily="34" charset="-120"/>
              </a:rPr>
              <a:t>AI/ML EWB internship course, under the supervision of the EWB Courses programme.</a:t>
            </a:r>
            <a:endParaRPr lang="en-US" sz="1300" dirty="0"/>
          </a:p>
          <a:p>
            <a:pPr indent="0" marL="0">
              <a:buNone/>
            </a:pPr>
            <a:r>
              <a:rPr lang="en-US" sz="1300" b="1" dirty="0">
                <a:solidFill>
                  <a:schemeClr val="accent2"/>
                </a:solidFill>
                <a:latin typeface="Calibri" pitchFamily="34" charset="0"/>
                <a:ea typeface="Calibri" pitchFamily="34" charset="-122"/>
                <a:cs typeface="Calibri" pitchFamily="34" charset="-120"/>
              </a:rPr>
              <a:t>Acknowledgement: </a:t>
            </a:r>
            <a:pPr indent="0" marL="0">
              <a:buNone/>
            </a:pPr>
            <a:r>
              <a:rPr lang="en-US" sz="1300" dirty="0">
                <a:solidFill>
                  <a:schemeClr val="tx2"/>
                </a:solidFill>
                <a:latin typeface="Calibri" pitchFamily="34" charset="0"/>
                <a:ea typeface="Calibri" pitchFamily="34" charset="-122"/>
                <a:cs typeface="Calibri" pitchFamily="34" charset="-120"/>
              </a:rPr>
              <a:t>builds on the MIT-licensed Fully-Offline-AI-agent-using-SLM by Bhargava Kandala; licence notice retained.</a:t>
            </a:r>
            <a:endParaRPr lang="en-US" sz="1300" dirty="0"/>
          </a:p>
        </p:txBody>
      </p:sp>
      <p:sp>
        <p:nvSpPr>
          <p:cNvPr id="25" name="Slide Number Placeholder 0"/>
          <p:cNvSpPr>
            <a:spLocks noGrp="1"/>
          </p:cNvSpPr>
          <p:nvPr>
            <p:ph type="sldNum" sz="quarter" idx="4294967295"/>
          </p:nvPr>
        </p:nvSpPr>
        <p:spPr>
          <a:xfrm>
            <a:off x="11201400" y="6419088"/>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8A2B3"/>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21"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8" fill="hold">
                            <p:stCondLst>
                              <p:cond delay="70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35"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par>
                          <p:cTn id="42" fill="hold">
                            <p:stCondLst>
                              <p:cond delay="1400"/>
                            </p:stCondLst>
                            <p:childTnLst>
                              <p:par>
                                <p:cTn id="36" presetID="10" presetClass="entr" presetSubtype="0"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par>
                          <p:cTn id="49" fill="hold">
                            <p:stCondLst>
                              <p:cond delay="1750"/>
                            </p:stCondLst>
                            <p:childTnLst>
                              <p:par>
                                <p:cTn id="43" presetID="10" presetClass="entr" presetSubtype="0"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childTnLst>
                          </p:cTn>
                        </p:par>
                        <p:par>
                          <p:cTn id="53" fill="hold">
                            <p:stCondLst>
                              <p:cond delay="2100"/>
                            </p:stCondLst>
                            <p:childTnLst>
                              <p:par>
                                <p:cTn id="50" presetID="10"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4" grpId="0" animBg="1"/>
      <p:bldP spid="16" grpId="0" animBg="1"/>
      <p:bldP spid="17" grpId="0" animBg="1"/>
    </p:bldLst>
  </p:timing>
</p:sld>
</file>

<file path=ppt/theme/theme1.xml><?xml version="1.0" encoding="utf-8"?>
<a:theme xmlns:a="http://schemas.openxmlformats.org/drawingml/2006/main" name="AgentForge Dark">
  <a:themeElements>
    <a:clrScheme name="AgentForge Dark">
      <a:dk1>
        <a:srgbClr val="E6E9F0"/>
      </a:dk1>
      <a:lt1>
        <a:srgbClr val="11141B"/>
      </a:lt1>
      <a:dk2>
        <a:srgbClr val="98A2B3"/>
      </a:dk2>
      <a:lt2>
        <a:srgbClr val="1A1F2A"/>
      </a:lt2>
      <a:accent1>
        <a:srgbClr val="4F8CFF"/>
      </a:accent1>
      <a:accent2>
        <a:srgbClr val="8B5CF6"/>
      </a:accent2>
      <a:accent3>
        <a:srgbClr val="34D399"/>
      </a:accent3>
      <a:accent4>
        <a:srgbClr val="F87171"/>
      </a:accent4>
      <a:accent5>
        <a:srgbClr val="FBBF24"/>
      </a:accent5>
      <a:accent6>
        <a:srgbClr val="2A3140"/>
      </a:accent6>
      <a:hlink>
        <a:srgbClr val="8FB3FF"/>
      </a:hlink>
      <a:folHlink>
        <a:srgbClr val="A78BFA"/>
      </a:folHlink>
    </a:clrScheme>
    <a:fontScheme name="AgentForge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Government College of Engineering, Tirunelveli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AgentForge Local AI</dc:title>
  <dc:subject>A Privacy Focused Offline AI Agent Powered by Small Language Models</dc:subject>
  <dc:creator>Saqib Ahmad Bhat</dc:creator>
  <cp:lastModifiedBy>Saqib Ahmad Bhat</cp:lastModifiedBy>
  <cp:revision>1</cp:revision>
  <dcterms:created xsi:type="dcterms:W3CDTF">2026-10-28T20:21:52Z</dcterms:created>
  <dcterms:modified xsi:type="dcterms:W3CDTF">2026-10-28T20:21:52Z</dcterms:modified>
</cp:coreProperties>
</file>